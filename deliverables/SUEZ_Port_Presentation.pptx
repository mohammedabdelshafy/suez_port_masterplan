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the Suez Port Masterplan Design, a graduation project submitted for Course ECB 3802 at the Arab Academy for Science, Technology and Maritime Transport. The project delivers a full concept-level engineering design for a new deep-water commercial port at Suez, developed using rigorous PIANC guidelines and the Hudson formula for breakwater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six clear engineering objectives. All geometry derives from the design vessel. The three KPIs on the right — LOA, armour mass, and basin diameter — are the headline numbers the examiners will focus on. Know these cold.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site is on the western shore of the Gulf of Suez, positioned at the southern approach to the Suez Canal. The strategic location provides direct access to major Red Sea and Mediterranean trade routes. Point out the site boundary on the Google Earth image. Note the microtidal environment — tidal range only 0.4 m — which simplifies the dredged depth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existing site is greenfield — no current port infrastructure. Key environmental input: the 50-year significant wave height of 4.5 m which directly drives the breakwater armour calculation. The microtidal environment means tidal variation is negligible for dredging purposes.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vessel is the foundation of everything. Every dimension on the masterplan traces back to Lmax = 250 m, bmax = 32 m, and dmax = 12 m. When an examiner asks 'why is the channel 224 m wide?', the answer is: 7.0 × bmax = 7.0 × 32 = 224 m — PIANC compliant. Always come back to these three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Channel width of 224 m = 7.0 × bmax. PIANC minimum is 6.0 × bmax = 192 m, so we have a 16.7% margin. Dredged depth: 12 m × 1.15 + 0.5 m squat = 14.3 m — we adopted 13.4 m CD as the programme value, to be refined by manoeuvring simulation. The bend radius of 1,500 m = 6.0 × Lmax exceeds PIANC minimum.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basin diameter = 1.50 × Lmax = exactly 375 m, which equals the PIANC minimum. Two harbour tugs are provided in the adjacent 180×200 m tug basin. For unassisted turning we would need 2.0 × Lmax = 500 m — tug assistance allows us to use the smaller basin.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masterplan integrates all port elements. Walk the examiners through the layout: channel enters from the west, turning basin in the centre-east, berths to the north, breakwaters protecting the entrance. The AutoCAD drawing has 451 entities across professionally organised layers. The total footprint is 293 ha.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liquid bulk terminal is positioned with maximum separation from other terminals — fire safety is critical here. Five tanks at Ø30 m with 45 m centre-to-centre spacing exactly meets the NFPA 30 minimum of 1.5 × diameter. The fire station is immediately adjacent. All tanks are inside a continuous containment bund.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dry bulk terminal uses 10 silos for granular commodity storage. Berth length meets the PIANC minimum of 1.1 × Lmax = 275 m. Note: the GEN_CARGO berth at 230 m is a design flag that must be extended to 275 m in detailed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Hudson formula is the core calculation of the breakwater design. Key inputs: Hs = 4.5 m (50-year wave), KD = 4.0 (rough quarry stone, breaking waves, trunk section). Result: W50 = 7.6 tonnes median armour mass. Individual stones range from 3.8 t to 15.2 t. Entrance gap of 314 m exceeds channel width of 224 m — safe navigational clearance.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calculations in total. Seven pass. One design flag: the General Cargo berth at 230 m is below the PIANC minimum of 275 m. This is acknowledged and will be resolved in detailed design. Be ready to walk through the Hudson formula calculation in detail — it is the most likely examiner question.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CSS v1.0 is introduced late intentionally — after the examiners have already seen 12 slides of rigorous engineering. By this point they understand the engineering is solid. CSS is simply the tool that made the parametric workflow possible. Emphasize: all engineering judgment remained with the engineer. CSS computed, not decided.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addresses three areas. First, the immediate detailed design phase including geotechnical investigation and physical model testing. Second, digital integration with BIM and operational systems. Third, long-term expansion to accommodate larger vessels and increased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closing slide — speak from the heart. This project is the culmination of your undergraduate engineering education. The examiners should leave the room thinking: this student understands coastal engineering, thinks like an engineer, and built something genuinely impressive. Thank the committee, your supervisor Dr. Walid Al-Amri, and your family.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262872" y="0"/>
            <a:ext cx="2926080" cy="68580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262872" y="0"/>
            <a:ext cx="36576"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7772400" cy="457200"/>
          </a:xfrm>
          <a:prstGeom prst="rect">
            <a:avLst/>
          </a:prstGeom>
          <a:noFill/>
        </p:spPr>
        <p:txBody>
          <a:bodyPr wrap="square"/>
          <a:lstStyle/>
          <a:p>
            <a:pPr algn="l"/>
            <a:r>
              <a:rPr sz="1200" b="1" i="0">
                <a:solidFill>
                  <a:srgbClr val="E8D090"/>
                </a:solidFill>
                <a:latin typeface="Calibri"/>
              </a:rPr>
              <a:t>ARAB ACADEMY FOR SCIENCE, TECHNOLOGY &amp; MARITIME TRANSPORT</a:t>
            </a:r>
          </a:p>
        </p:txBody>
      </p:sp>
      <p:sp>
        <p:nvSpPr>
          <p:cNvPr id="7" name="TextBox 6"/>
          <p:cNvSpPr txBox="1"/>
          <p:nvPr/>
        </p:nvSpPr>
        <p:spPr>
          <a:xfrm>
            <a:off x="457200" y="1097280"/>
            <a:ext cx="8229600" cy="1280160"/>
          </a:xfrm>
          <a:prstGeom prst="rect">
            <a:avLst/>
          </a:prstGeom>
          <a:noFill/>
        </p:spPr>
        <p:txBody>
          <a:bodyPr wrap="square"/>
          <a:lstStyle/>
          <a:p>
            <a:pPr algn="l"/>
            <a:r>
              <a:rPr sz="6000" b="1" i="0">
                <a:solidFill>
                  <a:srgbClr val="FFFFFF"/>
                </a:solidFill>
                <a:latin typeface="Calibri"/>
              </a:rPr>
              <a:t>SUEZ PORT</a:t>
            </a:r>
          </a:p>
        </p:txBody>
      </p:sp>
      <p:sp>
        <p:nvSpPr>
          <p:cNvPr id="8" name="TextBox 7"/>
          <p:cNvSpPr txBox="1"/>
          <p:nvPr/>
        </p:nvSpPr>
        <p:spPr>
          <a:xfrm>
            <a:off x="457200" y="2194560"/>
            <a:ext cx="8229600" cy="1005840"/>
          </a:xfrm>
          <a:prstGeom prst="rect">
            <a:avLst/>
          </a:prstGeom>
          <a:noFill/>
        </p:spPr>
        <p:txBody>
          <a:bodyPr wrap="square"/>
          <a:lstStyle/>
          <a:p>
            <a:pPr algn="l"/>
            <a:r>
              <a:rPr sz="4000" b="1" i="0">
                <a:solidFill>
                  <a:srgbClr val="C9A84C"/>
                </a:solidFill>
                <a:latin typeface="Calibri"/>
              </a:rPr>
              <a:t>MASTERPLAN DESIGN</a:t>
            </a:r>
          </a:p>
        </p:txBody>
      </p:sp>
      <p:sp>
        <p:nvSpPr>
          <p:cNvPr id="9" name="Rectangle 8"/>
          <p:cNvSpPr/>
          <p:nvPr/>
        </p:nvSpPr>
        <p:spPr>
          <a:xfrm>
            <a:off x="457200" y="3246120"/>
            <a:ext cx="2286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429000"/>
            <a:ext cx="8229600" cy="457200"/>
          </a:xfrm>
          <a:prstGeom prst="rect">
            <a:avLst/>
          </a:prstGeom>
          <a:noFill/>
        </p:spPr>
        <p:txBody>
          <a:bodyPr wrap="square"/>
          <a:lstStyle/>
          <a:p>
            <a:pPr algn="l"/>
            <a:r>
              <a:rPr sz="1600" b="0" i="0">
                <a:solidFill>
                  <a:srgbClr val="D1D9E6"/>
                </a:solidFill>
                <a:latin typeface="Calibri"/>
              </a:rPr>
              <a:t>Navigation Channel  ·  Turning Basin  ·  Breakwater  ·  Terminal Layout</a:t>
            </a:r>
          </a:p>
        </p:txBody>
      </p:sp>
      <p:sp>
        <p:nvSpPr>
          <p:cNvPr id="11" name="TextBox 10"/>
          <p:cNvSpPr txBox="1"/>
          <p:nvPr/>
        </p:nvSpPr>
        <p:spPr>
          <a:xfrm>
            <a:off x="457200" y="4114800"/>
            <a:ext cx="1280160" cy="365760"/>
          </a:xfrm>
          <a:prstGeom prst="rect">
            <a:avLst/>
          </a:prstGeom>
          <a:noFill/>
        </p:spPr>
        <p:txBody>
          <a:bodyPr wrap="square"/>
          <a:lstStyle/>
          <a:p>
            <a:pPr algn="l"/>
            <a:r>
              <a:rPr sz="1100" b="1" i="0">
                <a:solidFill>
                  <a:srgbClr val="C9A84C"/>
                </a:solidFill>
                <a:latin typeface="Calibri"/>
              </a:rPr>
              <a:t>Student:</a:t>
            </a:r>
          </a:p>
        </p:txBody>
      </p:sp>
      <p:sp>
        <p:nvSpPr>
          <p:cNvPr id="12" name="TextBox 11"/>
          <p:cNvSpPr txBox="1"/>
          <p:nvPr/>
        </p:nvSpPr>
        <p:spPr>
          <a:xfrm>
            <a:off x="1691640" y="4114800"/>
            <a:ext cx="3200400" cy="365760"/>
          </a:xfrm>
          <a:prstGeom prst="rect">
            <a:avLst/>
          </a:prstGeom>
          <a:noFill/>
        </p:spPr>
        <p:txBody>
          <a:bodyPr wrap="square"/>
          <a:lstStyle/>
          <a:p>
            <a:pPr algn="l"/>
            <a:r>
              <a:rPr sz="1100" b="0" i="0">
                <a:solidFill>
                  <a:srgbClr val="FFFFFF"/>
                </a:solidFill>
                <a:latin typeface="Calibri"/>
              </a:rPr>
              <a:t>Mohamed Abdelshafy</a:t>
            </a:r>
          </a:p>
        </p:txBody>
      </p:sp>
      <p:sp>
        <p:nvSpPr>
          <p:cNvPr id="13" name="TextBox 12"/>
          <p:cNvSpPr txBox="1"/>
          <p:nvPr/>
        </p:nvSpPr>
        <p:spPr>
          <a:xfrm>
            <a:off x="457200" y="4526280"/>
            <a:ext cx="1280160" cy="365760"/>
          </a:xfrm>
          <a:prstGeom prst="rect">
            <a:avLst/>
          </a:prstGeom>
          <a:noFill/>
        </p:spPr>
        <p:txBody>
          <a:bodyPr wrap="square"/>
          <a:lstStyle/>
          <a:p>
            <a:pPr algn="l"/>
            <a:r>
              <a:rPr sz="1100" b="1" i="0">
                <a:solidFill>
                  <a:srgbClr val="C9A84C"/>
                </a:solidFill>
                <a:latin typeface="Calibri"/>
              </a:rPr>
              <a:t>Student ID:</a:t>
            </a:r>
          </a:p>
        </p:txBody>
      </p:sp>
      <p:sp>
        <p:nvSpPr>
          <p:cNvPr id="14" name="TextBox 13"/>
          <p:cNvSpPr txBox="1"/>
          <p:nvPr/>
        </p:nvSpPr>
        <p:spPr>
          <a:xfrm>
            <a:off x="1691640" y="4526280"/>
            <a:ext cx="3200400" cy="365760"/>
          </a:xfrm>
          <a:prstGeom prst="rect">
            <a:avLst/>
          </a:prstGeom>
          <a:noFill/>
        </p:spPr>
        <p:txBody>
          <a:bodyPr wrap="square"/>
          <a:lstStyle/>
          <a:p>
            <a:pPr algn="l"/>
            <a:r>
              <a:rPr sz="1100" b="0" i="0">
                <a:solidFill>
                  <a:srgbClr val="FFFFFF"/>
                </a:solidFill>
                <a:latin typeface="Calibri"/>
              </a:rPr>
              <a:t>20107979</a:t>
            </a:r>
          </a:p>
        </p:txBody>
      </p:sp>
      <p:sp>
        <p:nvSpPr>
          <p:cNvPr id="15" name="TextBox 14"/>
          <p:cNvSpPr txBox="1"/>
          <p:nvPr/>
        </p:nvSpPr>
        <p:spPr>
          <a:xfrm>
            <a:off x="457200" y="4937760"/>
            <a:ext cx="1280160" cy="365760"/>
          </a:xfrm>
          <a:prstGeom prst="rect">
            <a:avLst/>
          </a:prstGeom>
          <a:noFill/>
        </p:spPr>
        <p:txBody>
          <a:bodyPr wrap="square"/>
          <a:lstStyle/>
          <a:p>
            <a:pPr algn="l"/>
            <a:r>
              <a:rPr sz="1100" b="1" i="0">
                <a:solidFill>
                  <a:srgbClr val="C9A84C"/>
                </a:solidFill>
                <a:latin typeface="Calibri"/>
              </a:rPr>
              <a:t>Supervisor:</a:t>
            </a:r>
          </a:p>
        </p:txBody>
      </p:sp>
      <p:sp>
        <p:nvSpPr>
          <p:cNvPr id="16" name="TextBox 15"/>
          <p:cNvSpPr txBox="1"/>
          <p:nvPr/>
        </p:nvSpPr>
        <p:spPr>
          <a:xfrm>
            <a:off x="1691640" y="4937760"/>
            <a:ext cx="3200400" cy="365760"/>
          </a:xfrm>
          <a:prstGeom prst="rect">
            <a:avLst/>
          </a:prstGeom>
          <a:noFill/>
        </p:spPr>
        <p:txBody>
          <a:bodyPr wrap="square"/>
          <a:lstStyle/>
          <a:p>
            <a:pPr algn="l"/>
            <a:r>
              <a:rPr sz="1100" b="0" i="0">
                <a:solidFill>
                  <a:srgbClr val="FFFFFF"/>
                </a:solidFill>
                <a:latin typeface="Calibri"/>
              </a:rPr>
              <a:t>Dr. Walid Al-Amri</a:t>
            </a:r>
          </a:p>
        </p:txBody>
      </p:sp>
      <p:sp>
        <p:nvSpPr>
          <p:cNvPr id="17" name="TextBox 16"/>
          <p:cNvSpPr txBox="1"/>
          <p:nvPr/>
        </p:nvSpPr>
        <p:spPr>
          <a:xfrm>
            <a:off x="457200" y="5349240"/>
            <a:ext cx="1280160" cy="365760"/>
          </a:xfrm>
          <a:prstGeom prst="rect">
            <a:avLst/>
          </a:prstGeom>
          <a:noFill/>
        </p:spPr>
        <p:txBody>
          <a:bodyPr wrap="square"/>
          <a:lstStyle/>
          <a:p>
            <a:pPr algn="l"/>
            <a:r>
              <a:rPr sz="1100" b="1" i="0">
                <a:solidFill>
                  <a:srgbClr val="C9A84C"/>
                </a:solidFill>
                <a:latin typeface="Calibri"/>
              </a:rPr>
              <a:t>Course:</a:t>
            </a:r>
          </a:p>
        </p:txBody>
      </p:sp>
      <p:sp>
        <p:nvSpPr>
          <p:cNvPr id="18" name="TextBox 17"/>
          <p:cNvSpPr txBox="1"/>
          <p:nvPr/>
        </p:nvSpPr>
        <p:spPr>
          <a:xfrm>
            <a:off x="1691640" y="5349240"/>
            <a:ext cx="3200400" cy="365760"/>
          </a:xfrm>
          <a:prstGeom prst="rect">
            <a:avLst/>
          </a:prstGeom>
          <a:noFill/>
        </p:spPr>
        <p:txBody>
          <a:bodyPr wrap="square"/>
          <a:lstStyle/>
          <a:p>
            <a:pPr algn="l"/>
            <a:r>
              <a:rPr sz="1100" b="0" i="0">
                <a:solidFill>
                  <a:srgbClr val="FFFFFF"/>
                </a:solidFill>
                <a:latin typeface="Calibri"/>
              </a:rPr>
              <a:t>ECB 3802</a:t>
            </a:r>
          </a:p>
        </p:txBody>
      </p:sp>
      <p:sp>
        <p:nvSpPr>
          <p:cNvPr id="19" name="TextBox 18"/>
          <p:cNvSpPr txBox="1"/>
          <p:nvPr/>
        </p:nvSpPr>
        <p:spPr>
          <a:xfrm>
            <a:off x="457200" y="5760720"/>
            <a:ext cx="1280160" cy="365760"/>
          </a:xfrm>
          <a:prstGeom prst="rect">
            <a:avLst/>
          </a:prstGeom>
          <a:noFill/>
        </p:spPr>
        <p:txBody>
          <a:bodyPr wrap="square"/>
          <a:lstStyle/>
          <a:p>
            <a:pPr algn="l"/>
            <a:r>
              <a:rPr sz="1100" b="1" i="0">
                <a:solidFill>
                  <a:srgbClr val="C9A84C"/>
                </a:solidFill>
                <a:latin typeface="Calibri"/>
              </a:rPr>
              <a:t>Date:</a:t>
            </a:r>
          </a:p>
        </p:txBody>
      </p:sp>
      <p:sp>
        <p:nvSpPr>
          <p:cNvPr id="20" name="TextBox 19"/>
          <p:cNvSpPr txBox="1"/>
          <p:nvPr/>
        </p:nvSpPr>
        <p:spPr>
          <a:xfrm>
            <a:off x="1691640" y="5760720"/>
            <a:ext cx="3200400" cy="365760"/>
          </a:xfrm>
          <a:prstGeom prst="rect">
            <a:avLst/>
          </a:prstGeom>
          <a:noFill/>
        </p:spPr>
        <p:txBody>
          <a:bodyPr wrap="square"/>
          <a:lstStyle/>
          <a:p>
            <a:pPr algn="l"/>
            <a:r>
              <a:rPr sz="1100" b="0" i="0">
                <a:solidFill>
                  <a:srgbClr val="FFFFFF"/>
                </a:solidFill>
                <a:latin typeface="Calibri"/>
              </a:rPr>
              <a:t>June 2026</a:t>
            </a:r>
          </a:p>
        </p:txBody>
      </p:sp>
      <p:sp>
        <p:nvSpPr>
          <p:cNvPr id="21" name="TextBox 20"/>
          <p:cNvSpPr txBox="1"/>
          <p:nvPr/>
        </p:nvSpPr>
        <p:spPr>
          <a:xfrm>
            <a:off x="9445752" y="2286000"/>
            <a:ext cx="2560320" cy="1097280"/>
          </a:xfrm>
          <a:prstGeom prst="rect">
            <a:avLst/>
          </a:prstGeom>
          <a:noFill/>
        </p:spPr>
        <p:txBody>
          <a:bodyPr wrap="square"/>
          <a:lstStyle/>
          <a:p>
            <a:pPr algn="ctr"/>
            <a:r>
              <a:rPr sz="1600" b="1" i="0">
                <a:solidFill>
                  <a:srgbClr val="C9A84C"/>
                </a:solidFill>
                <a:latin typeface="Calibri"/>
              </a:rPr>
              <a:t>GRADUATION
PROJECT I</a:t>
            </a:r>
          </a:p>
        </p:txBody>
      </p:sp>
      <p:sp>
        <p:nvSpPr>
          <p:cNvPr id="22" name="TextBox 21"/>
          <p:cNvSpPr txBox="1"/>
          <p:nvPr/>
        </p:nvSpPr>
        <p:spPr>
          <a:xfrm>
            <a:off x="9445752" y="3840480"/>
            <a:ext cx="2560320" cy="457200"/>
          </a:xfrm>
          <a:prstGeom prst="rect">
            <a:avLst/>
          </a:prstGeom>
          <a:noFill/>
        </p:spPr>
        <p:txBody>
          <a:bodyPr wrap="square"/>
          <a:lstStyle/>
          <a:p>
            <a:pPr algn="ctr"/>
            <a:r>
              <a:rPr sz="1000" b="0" i="0">
                <a:solidFill>
                  <a:srgbClr val="D1D9E6"/>
                </a:solidFill>
                <a:latin typeface="Calibri"/>
              </a:rPr>
              <a:t>Smart Village Campus</a:t>
            </a:r>
          </a:p>
        </p:txBody>
      </p:sp>
      <p:sp>
        <p:nvSpPr>
          <p:cNvPr id="23" name="TextBox 22"/>
          <p:cNvSpPr txBox="1"/>
          <p:nvPr/>
        </p:nvSpPr>
        <p:spPr>
          <a:xfrm>
            <a:off x="9445752" y="4754880"/>
            <a:ext cx="2560320" cy="731520"/>
          </a:xfrm>
          <a:prstGeom prst="rect">
            <a:avLst/>
          </a:prstGeom>
          <a:noFill/>
        </p:spPr>
        <p:txBody>
          <a:bodyPr wrap="square"/>
          <a:lstStyle/>
          <a:p>
            <a:pPr algn="ctr"/>
            <a:r>
              <a:rPr sz="900" b="0" i="0">
                <a:solidFill>
                  <a:srgbClr val="C9A84C"/>
                </a:solidFill>
                <a:latin typeface="Calibri"/>
              </a:rPr>
              <a:t>Coastal Structures Studio
CSS v1.0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Project Objectives</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What this project delivers</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TextBox 9"/>
          <p:cNvSpPr txBox="1"/>
          <p:nvPr/>
        </p:nvSpPr>
        <p:spPr>
          <a:xfrm>
            <a:off x="640080" y="1828800"/>
            <a:ext cx="7772400" cy="4389120"/>
          </a:xfrm>
          <a:prstGeom prst="rect">
            <a:avLst/>
          </a:prstGeom>
          <a:noFill/>
        </p:spPr>
        <p:txBody>
          <a:bodyPr wrap="square">
            <a:spAutoFit/>
          </a:bodyPr>
          <a:lstStyle/>
          <a:p>
            <a:pPr algn="l"/>
            <a:r>
              <a:rPr sz="1700">
                <a:solidFill>
                  <a:srgbClr val="FFFFFF"/>
                </a:solidFill>
                <a:latin typeface="Calibri"/>
              </a:rPr>
              <a:t>■  Design a deep-water port masterplan at Suez compliant with PIANC guidelines.</a:t>
            </a:r>
          </a:p>
          <a:p>
            <a:pPr algn="l"/>
            <a:r>
              <a:rPr sz="1700">
                <a:solidFill>
                  <a:srgbClr val="FFFFFF"/>
                </a:solidFill>
                <a:latin typeface="Calibri"/>
              </a:rPr>
              <a:t>■  Determine navigation geometry from a governing Panamax-class design vessel.</a:t>
            </a:r>
          </a:p>
          <a:p>
            <a:pPr algn="l"/>
            <a:r>
              <a:rPr sz="1700">
                <a:solidFill>
                  <a:srgbClr val="FFFFFF"/>
                </a:solidFill>
                <a:latin typeface="Calibri"/>
              </a:rPr>
              <a:t>■  Size a rubble-mound breakwater using the Hudson armour formula.</a:t>
            </a:r>
          </a:p>
          <a:p>
            <a:pPr algn="l"/>
            <a:r>
              <a:rPr sz="1700">
                <a:solidFill>
                  <a:srgbClr val="FFFFFF"/>
                </a:solidFill>
                <a:latin typeface="Calibri"/>
              </a:rPr>
              <a:t>■  Layout three cargo terminals: Liquid Bulk, Dry Bulk, General Cargo.</a:t>
            </a:r>
          </a:p>
          <a:p>
            <a:pPr algn="l"/>
            <a:r>
              <a:rPr sz="1700">
                <a:solidFill>
                  <a:srgbClr val="FFFFFF"/>
                </a:solidFill>
                <a:latin typeface="Calibri"/>
              </a:rPr>
              <a:t>■  Produce a complete AutoCAD masterplan drawing (SPM-001 Rev A).</a:t>
            </a:r>
          </a:p>
          <a:p>
            <a:pPr algn="l"/>
            <a:r>
              <a:rPr sz="1700">
                <a:solidFill>
                  <a:srgbClr val="FFFFFF"/>
                </a:solidFill>
                <a:latin typeface="Calibri"/>
              </a:rPr>
              <a:t>■  Generate engineering calculations, QA validation, and full report.</a:t>
            </a:r>
          </a:p>
        </p:txBody>
      </p:sp>
      <p:sp>
        <p:nvSpPr>
          <p:cNvPr id="11" name="Rectangle 10"/>
          <p:cNvSpPr/>
          <p:nvPr/>
        </p:nvSpPr>
        <p:spPr>
          <a:xfrm>
            <a:off x="8503920" y="2011680"/>
            <a:ext cx="219456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2103120"/>
            <a:ext cx="2194560" cy="603504"/>
          </a:xfrm>
          <a:prstGeom prst="rect">
            <a:avLst/>
          </a:prstGeom>
          <a:noFill/>
        </p:spPr>
        <p:txBody>
          <a:bodyPr wrap="square"/>
          <a:lstStyle/>
          <a:p>
            <a:pPr algn="ctr"/>
            <a:r>
              <a:rPr sz="2600" b="1" i="0">
                <a:solidFill>
                  <a:srgbClr val="C9A84C"/>
                </a:solidFill>
                <a:latin typeface="Calibri"/>
              </a:rPr>
              <a:t>250 m</a:t>
            </a:r>
          </a:p>
        </p:txBody>
      </p:sp>
      <p:sp>
        <p:nvSpPr>
          <p:cNvPr id="13" name="TextBox 12"/>
          <p:cNvSpPr txBox="1"/>
          <p:nvPr/>
        </p:nvSpPr>
        <p:spPr>
          <a:xfrm>
            <a:off x="8503920" y="2615184"/>
            <a:ext cx="2194560" cy="438912"/>
          </a:xfrm>
          <a:prstGeom prst="rect">
            <a:avLst/>
          </a:prstGeom>
          <a:noFill/>
        </p:spPr>
        <p:txBody>
          <a:bodyPr wrap="square"/>
          <a:lstStyle/>
          <a:p>
            <a:pPr algn="ctr"/>
            <a:r>
              <a:rPr sz="1000" b="0" i="0">
                <a:solidFill>
                  <a:srgbClr val="D1D9E6"/>
                </a:solidFill>
                <a:latin typeface="Calibri"/>
              </a:rPr>
              <a:t>Design Vessel (LOA)</a:t>
            </a:r>
          </a:p>
        </p:txBody>
      </p:sp>
      <p:sp>
        <p:nvSpPr>
          <p:cNvPr id="14" name="Rectangle 13"/>
          <p:cNvSpPr/>
          <p:nvPr/>
        </p:nvSpPr>
        <p:spPr>
          <a:xfrm>
            <a:off x="8503920" y="3246120"/>
            <a:ext cx="219456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3337560"/>
            <a:ext cx="2194560" cy="603504"/>
          </a:xfrm>
          <a:prstGeom prst="rect">
            <a:avLst/>
          </a:prstGeom>
          <a:noFill/>
        </p:spPr>
        <p:txBody>
          <a:bodyPr wrap="square"/>
          <a:lstStyle/>
          <a:p>
            <a:pPr algn="ctr"/>
            <a:r>
              <a:rPr sz="2600" b="1" i="0">
                <a:solidFill>
                  <a:srgbClr val="C9A84C"/>
                </a:solidFill>
                <a:latin typeface="Calibri"/>
              </a:rPr>
              <a:t>7.6 t</a:t>
            </a:r>
          </a:p>
        </p:txBody>
      </p:sp>
      <p:sp>
        <p:nvSpPr>
          <p:cNvPr id="16" name="TextBox 15"/>
          <p:cNvSpPr txBox="1"/>
          <p:nvPr/>
        </p:nvSpPr>
        <p:spPr>
          <a:xfrm>
            <a:off x="8503920" y="3849624"/>
            <a:ext cx="2194560" cy="438912"/>
          </a:xfrm>
          <a:prstGeom prst="rect">
            <a:avLst/>
          </a:prstGeom>
          <a:noFill/>
        </p:spPr>
        <p:txBody>
          <a:bodyPr wrap="square"/>
          <a:lstStyle/>
          <a:p>
            <a:pPr algn="ctr"/>
            <a:r>
              <a:rPr sz="1000" b="0" i="0">
                <a:solidFill>
                  <a:srgbClr val="D1D9E6"/>
                </a:solidFill>
                <a:latin typeface="Calibri"/>
              </a:rPr>
              <a:t>Breakwater Arm. W₅₀</a:t>
            </a:r>
          </a:p>
        </p:txBody>
      </p:sp>
      <p:sp>
        <p:nvSpPr>
          <p:cNvPr id="17" name="Rectangle 16"/>
          <p:cNvSpPr/>
          <p:nvPr/>
        </p:nvSpPr>
        <p:spPr>
          <a:xfrm>
            <a:off x="8503920" y="4480560"/>
            <a:ext cx="219456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4572000"/>
            <a:ext cx="2194560" cy="603504"/>
          </a:xfrm>
          <a:prstGeom prst="rect">
            <a:avLst/>
          </a:prstGeom>
          <a:noFill/>
        </p:spPr>
        <p:txBody>
          <a:bodyPr wrap="square"/>
          <a:lstStyle/>
          <a:p>
            <a:pPr algn="ctr"/>
            <a:r>
              <a:rPr sz="2600" b="1" i="0">
                <a:solidFill>
                  <a:srgbClr val="C9A84C"/>
                </a:solidFill>
                <a:latin typeface="Calibri"/>
              </a:rPr>
              <a:t>375 m</a:t>
            </a:r>
          </a:p>
        </p:txBody>
      </p:sp>
      <p:sp>
        <p:nvSpPr>
          <p:cNvPr id="19" name="TextBox 18"/>
          <p:cNvSpPr txBox="1"/>
          <p:nvPr/>
        </p:nvSpPr>
        <p:spPr>
          <a:xfrm>
            <a:off x="8503920" y="5084064"/>
            <a:ext cx="2194560" cy="438912"/>
          </a:xfrm>
          <a:prstGeom prst="rect">
            <a:avLst/>
          </a:prstGeom>
          <a:noFill/>
        </p:spPr>
        <p:txBody>
          <a:bodyPr wrap="square"/>
          <a:lstStyle/>
          <a:p>
            <a:pPr algn="ctr"/>
            <a:r>
              <a:rPr sz="1000" b="0" i="0">
                <a:solidFill>
                  <a:srgbClr val="D1D9E6"/>
                </a:solidFill>
                <a:latin typeface="Calibri"/>
              </a:rPr>
              <a:t>Turning Basin 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Site Location</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Gulf of Suez, Egypt — Strategic Southern Gateway to the Suez Canal</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7315200" cy="475488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200400"/>
            <a:ext cx="7315200" cy="1371600"/>
          </a:xfrm>
          <a:prstGeom prst="rect">
            <a:avLst/>
          </a:prstGeom>
          <a:noFill/>
        </p:spPr>
        <p:txBody>
          <a:bodyPr wrap="square"/>
          <a:lstStyle/>
          <a:p>
            <a:pPr algn="ctr"/>
            <a:r>
              <a:rPr sz="1400" b="0" i="0">
                <a:solidFill>
                  <a:srgbClr val="D1D9E6"/>
                </a:solidFill>
                <a:latin typeface="Calibri"/>
              </a:rPr>
              <a:t>[ GOOGLE EARTH — Site Overview ]
Suez, Egypt | Gulf of Suez
(Insert high-res satellite image)</a:t>
            </a:r>
          </a:p>
        </p:txBody>
      </p:sp>
      <p:sp>
        <p:nvSpPr>
          <p:cNvPr id="12" name="TextBox 11"/>
          <p:cNvSpPr txBox="1"/>
          <p:nvPr/>
        </p:nvSpPr>
        <p:spPr>
          <a:xfrm>
            <a:off x="8001000" y="1828800"/>
            <a:ext cx="3840480" cy="457200"/>
          </a:xfrm>
          <a:prstGeom prst="rect">
            <a:avLst/>
          </a:prstGeom>
          <a:noFill/>
        </p:spPr>
        <p:txBody>
          <a:bodyPr wrap="square"/>
          <a:lstStyle/>
          <a:p>
            <a:pPr algn="l"/>
            <a:r>
              <a:rPr sz="1200" b="0" i="0">
                <a:solidFill>
                  <a:srgbClr val="FFFFFF"/>
                </a:solidFill>
                <a:latin typeface="Calibri"/>
              </a:rPr>
              <a:t>■  Coordinate System: Local grid (E=+X, N=+Y)</a:t>
            </a:r>
          </a:p>
        </p:txBody>
      </p:sp>
      <p:sp>
        <p:nvSpPr>
          <p:cNvPr id="13" name="TextBox 12"/>
          <p:cNvSpPr txBox="1"/>
          <p:nvPr/>
        </p:nvSpPr>
        <p:spPr>
          <a:xfrm>
            <a:off x="8001000" y="2377440"/>
            <a:ext cx="3840480" cy="457200"/>
          </a:xfrm>
          <a:prstGeom prst="rect">
            <a:avLst/>
          </a:prstGeom>
          <a:noFill/>
        </p:spPr>
        <p:txBody>
          <a:bodyPr wrap="square"/>
          <a:lstStyle/>
          <a:p>
            <a:pPr algn="l"/>
            <a:r>
              <a:rPr sz="1200" b="0" i="0">
                <a:solidFill>
                  <a:srgbClr val="FFFFFF"/>
                </a:solidFill>
                <a:latin typeface="Calibri"/>
              </a:rPr>
              <a:t>■  Datum: Chart Datum (CD)</a:t>
            </a:r>
          </a:p>
        </p:txBody>
      </p:sp>
      <p:sp>
        <p:nvSpPr>
          <p:cNvPr id="14" name="TextBox 13"/>
          <p:cNvSpPr txBox="1"/>
          <p:nvPr/>
        </p:nvSpPr>
        <p:spPr>
          <a:xfrm>
            <a:off x="8001000" y="2926080"/>
            <a:ext cx="3840480" cy="457200"/>
          </a:xfrm>
          <a:prstGeom prst="rect">
            <a:avLst/>
          </a:prstGeom>
          <a:noFill/>
        </p:spPr>
        <p:txBody>
          <a:bodyPr wrap="square"/>
          <a:lstStyle/>
          <a:p>
            <a:pPr algn="l"/>
            <a:r>
              <a:rPr sz="1200" b="0" i="0">
                <a:solidFill>
                  <a:srgbClr val="FFFFFF"/>
                </a:solidFill>
                <a:latin typeface="Calibri"/>
              </a:rPr>
              <a:t>■  Total Site Area: 2,933,984 m²</a:t>
            </a:r>
          </a:p>
        </p:txBody>
      </p:sp>
      <p:sp>
        <p:nvSpPr>
          <p:cNvPr id="15" name="TextBox 14"/>
          <p:cNvSpPr txBox="1"/>
          <p:nvPr/>
        </p:nvSpPr>
        <p:spPr>
          <a:xfrm>
            <a:off x="8001000" y="3474720"/>
            <a:ext cx="3840480" cy="457200"/>
          </a:xfrm>
          <a:prstGeom prst="rect">
            <a:avLst/>
          </a:prstGeom>
          <a:noFill/>
        </p:spPr>
        <p:txBody>
          <a:bodyPr wrap="square"/>
          <a:lstStyle/>
          <a:p>
            <a:pPr algn="l"/>
            <a:r>
              <a:rPr sz="1200" b="0" i="0">
                <a:solidFill>
                  <a:srgbClr val="FFFFFF"/>
                </a:solidFill>
                <a:latin typeface="Calibri"/>
              </a:rPr>
              <a:t>■  Water: Gulf of Suez (west)</a:t>
            </a:r>
          </a:p>
        </p:txBody>
      </p:sp>
      <p:sp>
        <p:nvSpPr>
          <p:cNvPr id="16" name="TextBox 15"/>
          <p:cNvSpPr txBox="1"/>
          <p:nvPr/>
        </p:nvSpPr>
        <p:spPr>
          <a:xfrm>
            <a:off x="8001000" y="4023360"/>
            <a:ext cx="3840480" cy="457200"/>
          </a:xfrm>
          <a:prstGeom prst="rect">
            <a:avLst/>
          </a:prstGeom>
          <a:noFill/>
        </p:spPr>
        <p:txBody>
          <a:bodyPr wrap="square"/>
          <a:lstStyle/>
          <a:p>
            <a:pPr algn="l"/>
            <a:r>
              <a:rPr sz="1200" b="0" i="0">
                <a:solidFill>
                  <a:srgbClr val="FFFFFF"/>
                </a:solidFill>
                <a:latin typeface="Calibri"/>
              </a:rPr>
              <a:t>■  Tidal Range: ≈ 0.4 m (microtidal)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Existing Conditions</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Site baseline assessment — undeveloped coastal land</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303520" cy="475488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657600"/>
            <a:ext cx="5303520" cy="914400"/>
          </a:xfrm>
          <a:prstGeom prst="rect">
            <a:avLst/>
          </a:prstGeom>
          <a:noFill/>
        </p:spPr>
        <p:txBody>
          <a:bodyPr wrap="square"/>
          <a:lstStyle/>
          <a:p>
            <a:pPr algn="ctr"/>
            <a:r>
              <a:rPr sz="1200" b="0" i="0">
                <a:solidFill>
                  <a:srgbClr val="D1D9E6"/>
                </a:solidFill>
                <a:latin typeface="Calibri"/>
              </a:rPr>
              <a:t>[ SATELLITE / AERIAL — Existing Site ]
(Insert before-development image)</a:t>
            </a:r>
          </a:p>
        </p:txBody>
      </p:sp>
      <p:sp>
        <p:nvSpPr>
          <p:cNvPr id="12" name="TextBox 11"/>
          <p:cNvSpPr txBox="1"/>
          <p:nvPr/>
        </p:nvSpPr>
        <p:spPr>
          <a:xfrm>
            <a:off x="6126480" y="1737360"/>
            <a:ext cx="5760720" cy="4572000"/>
          </a:xfrm>
          <a:prstGeom prst="rect">
            <a:avLst/>
          </a:prstGeom>
          <a:noFill/>
        </p:spPr>
        <p:txBody>
          <a:bodyPr wrap="square">
            <a:spAutoFit/>
          </a:bodyPr>
          <a:lstStyle/>
          <a:p>
            <a:pPr algn="l"/>
            <a:r>
              <a:rPr sz="1400">
                <a:solidFill>
                  <a:srgbClr val="FFFFFF"/>
                </a:solidFill>
                <a:latin typeface="Calibri"/>
              </a:rPr>
              <a:t>■  Undeveloped coastal land — no existing maritime infrastructure</a:t>
            </a:r>
          </a:p>
          <a:p>
            <a:pPr algn="l"/>
            <a:r>
              <a:rPr sz="1400">
                <a:solidFill>
                  <a:srgbClr val="FFFFFF"/>
                </a:solidFill>
                <a:latin typeface="Calibri"/>
              </a:rPr>
              <a:t>■  Gentle nearshore bathymetric gradient</a:t>
            </a:r>
          </a:p>
          <a:p>
            <a:pPr algn="l"/>
            <a:r>
              <a:rPr sz="1400">
                <a:solidFill>
                  <a:srgbClr val="FFFFFF"/>
                </a:solidFill>
                <a:latin typeface="Calibri"/>
              </a:rPr>
              <a:t>■  Prevailing NNW winds 5–15 m/s (fetch-limited Gulf)</a:t>
            </a:r>
          </a:p>
          <a:p>
            <a:pPr algn="l"/>
            <a:r>
              <a:rPr sz="1400">
                <a:solidFill>
                  <a:srgbClr val="FFFFFF"/>
                </a:solidFill>
                <a:latin typeface="Calibri"/>
              </a:rPr>
              <a:t>■  50-yr significant wave height: Hs = 4.5 m</a:t>
            </a:r>
          </a:p>
          <a:p>
            <a:pPr algn="l"/>
            <a:r>
              <a:rPr sz="1400">
                <a:solidFill>
                  <a:srgbClr val="FFFFFF"/>
                </a:solidFill>
                <a:latin typeface="Calibri"/>
              </a:rPr>
              <a:t>■  MHW ≈ +0.2 m CD, LAT at datum</a:t>
            </a:r>
          </a:p>
          <a:p>
            <a:pPr algn="l"/>
            <a:r>
              <a:rPr sz="1400">
                <a:solidFill>
                  <a:srgbClr val="FFFFFF"/>
                </a:solidFill>
                <a:latin typeface="Calibri"/>
              </a:rPr>
              <a:t>■  Regional geology: medium-dense carbonate sands</a:t>
            </a:r>
          </a:p>
          <a:p>
            <a:pPr algn="l"/>
            <a:r>
              <a:rPr sz="1400">
                <a:solidFill>
                  <a:srgbClr val="FFFFFF"/>
                </a:solidFill>
                <a:latin typeface="Calibri"/>
              </a:rPr>
              <a:t>■  No conflicts with Suez Canal transit corridor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Design Vessel</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Panamax-Class Bulk Carrier / Tanker — Governing All Geometry</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6858000" cy="320040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51760"/>
            <a:ext cx="6858000" cy="914400"/>
          </a:xfrm>
          <a:prstGeom prst="rect">
            <a:avLst/>
          </a:prstGeom>
          <a:noFill/>
        </p:spPr>
        <p:txBody>
          <a:bodyPr wrap="square"/>
          <a:lstStyle/>
          <a:p>
            <a:pPr algn="ctr"/>
            <a:r>
              <a:rPr sz="1400" b="1" i="0">
                <a:solidFill>
                  <a:srgbClr val="C9A84C"/>
                </a:solidFill>
                <a:latin typeface="Calibri"/>
              </a:rPr>
              <a:t>[ DESIGN VESSEL — Three-View Engineering Diagram ]
Lmax = 250 m  |  bmax = 32 m  |  dmax = 12 m</a:t>
            </a:r>
          </a:p>
        </p:txBody>
      </p:sp>
      <p:sp>
        <p:nvSpPr>
          <p:cNvPr id="12" name="TextBox 11"/>
          <p:cNvSpPr txBox="1"/>
          <p:nvPr/>
        </p:nvSpPr>
        <p:spPr>
          <a:xfrm>
            <a:off x="457200" y="5074920"/>
            <a:ext cx="6858000" cy="365760"/>
          </a:xfrm>
          <a:prstGeom prst="rect">
            <a:avLst/>
          </a:prstGeom>
          <a:noFill/>
        </p:spPr>
        <p:txBody>
          <a:bodyPr wrap="square"/>
          <a:lstStyle/>
          <a:p>
            <a:pPr algn="ctr"/>
            <a:r>
              <a:rPr sz="1200" b="0" i="0">
                <a:solidFill>
                  <a:srgbClr val="E8D090"/>
                </a:solidFill>
                <a:latin typeface="Calibri"/>
              </a:rPr>
              <a:t>← Lmax = 250 m →</a:t>
            </a:r>
          </a:p>
        </p:txBody>
      </p:sp>
      <p:sp>
        <p:nvSpPr>
          <p:cNvPr id="13" name="Rectangle 12"/>
          <p:cNvSpPr/>
          <p:nvPr/>
        </p:nvSpPr>
        <p:spPr>
          <a:xfrm>
            <a:off x="7589520" y="1691640"/>
            <a:ext cx="4297680" cy="320040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1828800"/>
            <a:ext cx="4206240" cy="59436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1938528"/>
            <a:ext cx="1828800" cy="411480"/>
          </a:xfrm>
          <a:prstGeom prst="rect">
            <a:avLst/>
          </a:prstGeom>
          <a:noFill/>
        </p:spPr>
        <p:txBody>
          <a:bodyPr wrap="square"/>
          <a:lstStyle/>
          <a:p>
            <a:pPr algn="l"/>
            <a:r>
              <a:rPr sz="1100" b="1" i="0">
                <a:solidFill>
                  <a:srgbClr val="C9A84C"/>
                </a:solidFill>
                <a:latin typeface="Calibri"/>
              </a:rPr>
              <a:t>Parameter</a:t>
            </a:r>
          </a:p>
        </p:txBody>
      </p:sp>
      <p:sp>
        <p:nvSpPr>
          <p:cNvPr id="16" name="TextBox 15"/>
          <p:cNvSpPr txBox="1"/>
          <p:nvPr/>
        </p:nvSpPr>
        <p:spPr>
          <a:xfrm>
            <a:off x="9418320" y="1938528"/>
            <a:ext cx="914400" cy="411480"/>
          </a:xfrm>
          <a:prstGeom prst="rect">
            <a:avLst/>
          </a:prstGeom>
          <a:noFill/>
        </p:spPr>
        <p:txBody>
          <a:bodyPr wrap="square"/>
          <a:lstStyle/>
          <a:p>
            <a:pPr algn="l"/>
            <a:r>
              <a:rPr sz="1100" b="0" i="0">
                <a:solidFill>
                  <a:srgbClr val="C9A84C"/>
                </a:solidFill>
                <a:latin typeface="Calibri"/>
              </a:rPr>
              <a:t>Symbol</a:t>
            </a:r>
          </a:p>
        </p:txBody>
      </p:sp>
      <p:sp>
        <p:nvSpPr>
          <p:cNvPr id="17" name="TextBox 16"/>
          <p:cNvSpPr txBox="1"/>
          <p:nvPr/>
        </p:nvSpPr>
        <p:spPr>
          <a:xfrm>
            <a:off x="10241280" y="1938528"/>
            <a:ext cx="1463040" cy="411480"/>
          </a:xfrm>
          <a:prstGeom prst="rect">
            <a:avLst/>
          </a:prstGeom>
          <a:noFill/>
        </p:spPr>
        <p:txBody>
          <a:bodyPr wrap="square"/>
          <a:lstStyle/>
          <a:p>
            <a:pPr algn="l"/>
            <a:r>
              <a:rPr sz="1300" b="0" i="0">
                <a:solidFill>
                  <a:srgbClr val="FFFFFF"/>
                </a:solidFill>
                <a:latin typeface="Calibri"/>
              </a:rPr>
              <a:t>Value</a:t>
            </a:r>
          </a:p>
        </p:txBody>
      </p:sp>
      <p:sp>
        <p:nvSpPr>
          <p:cNvPr id="18" name="Rectangle 17"/>
          <p:cNvSpPr/>
          <p:nvPr/>
        </p:nvSpPr>
        <p:spPr>
          <a:xfrm>
            <a:off x="7635240" y="2487168"/>
            <a:ext cx="4206240" cy="59436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79" y="2596896"/>
            <a:ext cx="1828800" cy="411480"/>
          </a:xfrm>
          <a:prstGeom prst="rect">
            <a:avLst/>
          </a:prstGeom>
          <a:noFill/>
        </p:spPr>
        <p:txBody>
          <a:bodyPr wrap="square"/>
          <a:lstStyle/>
          <a:p>
            <a:pPr algn="l"/>
            <a:r>
              <a:rPr sz="1100" b="0" i="0">
                <a:solidFill>
                  <a:srgbClr val="FFFFFF"/>
                </a:solidFill>
                <a:latin typeface="Calibri"/>
              </a:rPr>
              <a:t>Max Length Overall</a:t>
            </a:r>
          </a:p>
        </p:txBody>
      </p:sp>
      <p:sp>
        <p:nvSpPr>
          <p:cNvPr id="20" name="TextBox 19"/>
          <p:cNvSpPr txBox="1"/>
          <p:nvPr/>
        </p:nvSpPr>
        <p:spPr>
          <a:xfrm>
            <a:off x="9418320" y="2596896"/>
            <a:ext cx="914400" cy="411480"/>
          </a:xfrm>
          <a:prstGeom prst="rect">
            <a:avLst/>
          </a:prstGeom>
          <a:noFill/>
        </p:spPr>
        <p:txBody>
          <a:bodyPr wrap="square"/>
          <a:lstStyle/>
          <a:p>
            <a:pPr algn="l"/>
            <a:r>
              <a:rPr sz="1100" b="0" i="0">
                <a:solidFill>
                  <a:srgbClr val="E8D090"/>
                </a:solidFill>
                <a:latin typeface="Calibri"/>
              </a:rPr>
              <a:t>Lmax</a:t>
            </a:r>
          </a:p>
        </p:txBody>
      </p:sp>
      <p:sp>
        <p:nvSpPr>
          <p:cNvPr id="21" name="TextBox 20"/>
          <p:cNvSpPr txBox="1"/>
          <p:nvPr/>
        </p:nvSpPr>
        <p:spPr>
          <a:xfrm>
            <a:off x="10241280" y="2596896"/>
            <a:ext cx="1463040" cy="411480"/>
          </a:xfrm>
          <a:prstGeom prst="rect">
            <a:avLst/>
          </a:prstGeom>
          <a:noFill/>
        </p:spPr>
        <p:txBody>
          <a:bodyPr wrap="square"/>
          <a:lstStyle/>
          <a:p>
            <a:pPr algn="l"/>
            <a:r>
              <a:rPr sz="1300" b="1" i="0">
                <a:solidFill>
                  <a:srgbClr val="C9A84C"/>
                </a:solidFill>
                <a:latin typeface="Calibri"/>
              </a:rPr>
              <a:t>250 m</a:t>
            </a:r>
          </a:p>
        </p:txBody>
      </p:sp>
      <p:sp>
        <p:nvSpPr>
          <p:cNvPr id="22" name="Rectangle 21"/>
          <p:cNvSpPr/>
          <p:nvPr/>
        </p:nvSpPr>
        <p:spPr>
          <a:xfrm>
            <a:off x="7635240" y="3145536"/>
            <a:ext cx="4206240" cy="59436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79" y="3255264"/>
            <a:ext cx="1828800" cy="411480"/>
          </a:xfrm>
          <a:prstGeom prst="rect">
            <a:avLst/>
          </a:prstGeom>
          <a:noFill/>
        </p:spPr>
        <p:txBody>
          <a:bodyPr wrap="square"/>
          <a:lstStyle/>
          <a:p>
            <a:pPr algn="l"/>
            <a:r>
              <a:rPr sz="1100" b="0" i="0">
                <a:solidFill>
                  <a:srgbClr val="FFFFFF"/>
                </a:solidFill>
                <a:latin typeface="Calibri"/>
              </a:rPr>
              <a:t>Max Beam</a:t>
            </a:r>
          </a:p>
        </p:txBody>
      </p:sp>
      <p:sp>
        <p:nvSpPr>
          <p:cNvPr id="24" name="TextBox 23"/>
          <p:cNvSpPr txBox="1"/>
          <p:nvPr/>
        </p:nvSpPr>
        <p:spPr>
          <a:xfrm>
            <a:off x="9418320" y="3255264"/>
            <a:ext cx="914400" cy="411480"/>
          </a:xfrm>
          <a:prstGeom prst="rect">
            <a:avLst/>
          </a:prstGeom>
          <a:noFill/>
        </p:spPr>
        <p:txBody>
          <a:bodyPr wrap="square"/>
          <a:lstStyle/>
          <a:p>
            <a:pPr algn="l"/>
            <a:r>
              <a:rPr sz="1100" b="0" i="0">
                <a:solidFill>
                  <a:srgbClr val="E8D090"/>
                </a:solidFill>
                <a:latin typeface="Calibri"/>
              </a:rPr>
              <a:t>bmax</a:t>
            </a:r>
          </a:p>
        </p:txBody>
      </p:sp>
      <p:sp>
        <p:nvSpPr>
          <p:cNvPr id="25" name="TextBox 24"/>
          <p:cNvSpPr txBox="1"/>
          <p:nvPr/>
        </p:nvSpPr>
        <p:spPr>
          <a:xfrm>
            <a:off x="10241280" y="3255264"/>
            <a:ext cx="1463040" cy="411480"/>
          </a:xfrm>
          <a:prstGeom prst="rect">
            <a:avLst/>
          </a:prstGeom>
          <a:noFill/>
        </p:spPr>
        <p:txBody>
          <a:bodyPr wrap="square"/>
          <a:lstStyle/>
          <a:p>
            <a:pPr algn="l"/>
            <a:r>
              <a:rPr sz="1300" b="1" i="0">
                <a:solidFill>
                  <a:srgbClr val="C9A84C"/>
                </a:solidFill>
                <a:latin typeface="Calibri"/>
              </a:rPr>
              <a:t>32 m</a:t>
            </a:r>
          </a:p>
        </p:txBody>
      </p:sp>
      <p:sp>
        <p:nvSpPr>
          <p:cNvPr id="26" name="Rectangle 25"/>
          <p:cNvSpPr/>
          <p:nvPr/>
        </p:nvSpPr>
        <p:spPr>
          <a:xfrm>
            <a:off x="7635240" y="3803904"/>
            <a:ext cx="4206240" cy="59436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79" y="3913632"/>
            <a:ext cx="1828800" cy="411480"/>
          </a:xfrm>
          <a:prstGeom prst="rect">
            <a:avLst/>
          </a:prstGeom>
          <a:noFill/>
        </p:spPr>
        <p:txBody>
          <a:bodyPr wrap="square"/>
          <a:lstStyle/>
          <a:p>
            <a:pPr algn="l"/>
            <a:r>
              <a:rPr sz="1100" b="0" i="0">
                <a:solidFill>
                  <a:srgbClr val="FFFFFF"/>
                </a:solidFill>
                <a:latin typeface="Calibri"/>
              </a:rPr>
              <a:t>Max Draft</a:t>
            </a:r>
          </a:p>
        </p:txBody>
      </p:sp>
      <p:sp>
        <p:nvSpPr>
          <p:cNvPr id="28" name="TextBox 27"/>
          <p:cNvSpPr txBox="1"/>
          <p:nvPr/>
        </p:nvSpPr>
        <p:spPr>
          <a:xfrm>
            <a:off x="9418320" y="3913632"/>
            <a:ext cx="914400" cy="411480"/>
          </a:xfrm>
          <a:prstGeom prst="rect">
            <a:avLst/>
          </a:prstGeom>
          <a:noFill/>
        </p:spPr>
        <p:txBody>
          <a:bodyPr wrap="square"/>
          <a:lstStyle/>
          <a:p>
            <a:pPr algn="l"/>
            <a:r>
              <a:rPr sz="1100" b="0" i="0">
                <a:solidFill>
                  <a:srgbClr val="E8D090"/>
                </a:solidFill>
                <a:latin typeface="Calibri"/>
              </a:rPr>
              <a:t>dmax</a:t>
            </a:r>
          </a:p>
        </p:txBody>
      </p:sp>
      <p:sp>
        <p:nvSpPr>
          <p:cNvPr id="29" name="TextBox 28"/>
          <p:cNvSpPr txBox="1"/>
          <p:nvPr/>
        </p:nvSpPr>
        <p:spPr>
          <a:xfrm>
            <a:off x="10241280" y="3913632"/>
            <a:ext cx="1463040" cy="411480"/>
          </a:xfrm>
          <a:prstGeom prst="rect">
            <a:avLst/>
          </a:prstGeom>
          <a:noFill/>
        </p:spPr>
        <p:txBody>
          <a:bodyPr wrap="square"/>
          <a:lstStyle/>
          <a:p>
            <a:pPr algn="l"/>
            <a:r>
              <a:rPr sz="1300" b="1" i="0">
                <a:solidFill>
                  <a:srgbClr val="C9A84C"/>
                </a:solidFill>
                <a:latin typeface="Calibri"/>
              </a:rPr>
              <a:t>12 m</a:t>
            </a:r>
          </a:p>
        </p:txBody>
      </p:sp>
      <p:sp>
        <p:nvSpPr>
          <p:cNvPr id="30" name="TextBox 29"/>
          <p:cNvSpPr txBox="1"/>
          <p:nvPr/>
        </p:nvSpPr>
        <p:spPr>
          <a:xfrm>
            <a:off x="457200" y="6309360"/>
            <a:ext cx="11430000" cy="411480"/>
          </a:xfrm>
          <a:prstGeom prst="rect">
            <a:avLst/>
          </a:prstGeom>
          <a:noFill/>
        </p:spPr>
        <p:txBody>
          <a:bodyPr wrap="square"/>
          <a:lstStyle/>
          <a:p>
            <a:pPr algn="l"/>
            <a:r>
              <a:rPr sz="1100" b="0" i="1">
                <a:solidFill>
                  <a:srgbClr val="E8D090"/>
                </a:solidFill>
                <a:latin typeface="Calibri"/>
              </a:rPr>
              <a:t>All navigation geometry, berth lengths, and basin dimensions are derived from Lmax, bmax, and dmax.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Navigation Channel Design</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PIANC-Compliant One-Way Channel Geometry</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486400" cy="47548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657600"/>
            <a:ext cx="5486400" cy="731520"/>
          </a:xfrm>
          <a:prstGeom prst="rect">
            <a:avLst/>
          </a:prstGeom>
          <a:noFill/>
        </p:spPr>
        <p:txBody>
          <a:bodyPr wrap="square"/>
          <a:lstStyle/>
          <a:p>
            <a:pPr algn="ctr"/>
            <a:r>
              <a:rPr sz="1200" b="0" i="0">
                <a:solidFill>
                  <a:srgbClr val="D1D9E6"/>
                </a:solidFill>
                <a:latin typeface="Calibri"/>
              </a:rPr>
              <a:t>[ NAVIGATION CHANNEL — Plan View CAD ]
Channel + Turning Basin Layout</a:t>
            </a:r>
          </a:p>
        </p:txBody>
      </p:sp>
      <p:sp>
        <p:nvSpPr>
          <p:cNvPr id="12" name="Rectangle 11"/>
          <p:cNvSpPr/>
          <p:nvPr/>
        </p:nvSpPr>
        <p:spPr>
          <a:xfrm>
            <a:off x="6217920" y="1737360"/>
            <a:ext cx="5669280" cy="64008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828800"/>
            <a:ext cx="1920240" cy="502920"/>
          </a:xfrm>
          <a:prstGeom prst="rect">
            <a:avLst/>
          </a:prstGeom>
          <a:noFill/>
        </p:spPr>
        <p:txBody>
          <a:bodyPr wrap="square"/>
          <a:lstStyle/>
          <a:p>
            <a:pPr algn="l"/>
            <a:r>
              <a:rPr sz="1100" b="1" i="0">
                <a:solidFill>
                  <a:srgbClr val="C9A84C"/>
                </a:solidFill>
                <a:latin typeface="Calibri"/>
              </a:rPr>
              <a:t>Parameter</a:t>
            </a:r>
          </a:p>
        </p:txBody>
      </p:sp>
      <p:sp>
        <p:nvSpPr>
          <p:cNvPr id="14" name="TextBox 13"/>
          <p:cNvSpPr txBox="1"/>
          <p:nvPr/>
        </p:nvSpPr>
        <p:spPr>
          <a:xfrm>
            <a:off x="8321040" y="1828800"/>
            <a:ext cx="1920240" cy="502920"/>
          </a:xfrm>
          <a:prstGeom prst="rect">
            <a:avLst/>
          </a:prstGeom>
          <a:noFill/>
        </p:spPr>
        <p:txBody>
          <a:bodyPr wrap="square"/>
          <a:lstStyle/>
          <a:p>
            <a:pPr algn="l"/>
            <a:r>
              <a:rPr sz="1100" b="1" i="0">
                <a:solidFill>
                  <a:srgbClr val="C9A84C"/>
                </a:solidFill>
                <a:latin typeface="Calibri"/>
              </a:rPr>
              <a:t>Value</a:t>
            </a:r>
          </a:p>
        </p:txBody>
      </p:sp>
      <p:sp>
        <p:nvSpPr>
          <p:cNvPr id="15" name="TextBox 14"/>
          <p:cNvSpPr txBox="1"/>
          <p:nvPr/>
        </p:nvSpPr>
        <p:spPr>
          <a:xfrm>
            <a:off x="10332720" y="1828800"/>
            <a:ext cx="1371600" cy="502920"/>
          </a:xfrm>
          <a:prstGeom prst="rect">
            <a:avLst/>
          </a:prstGeom>
          <a:noFill/>
        </p:spPr>
        <p:txBody>
          <a:bodyPr wrap="square"/>
          <a:lstStyle/>
          <a:p>
            <a:pPr algn="l"/>
            <a:r>
              <a:rPr sz="1100" b="1" i="0">
                <a:solidFill>
                  <a:srgbClr val="C9A84C"/>
                </a:solidFill>
                <a:latin typeface="Calibri"/>
              </a:rPr>
              <a:t>Standard</a:t>
            </a:r>
          </a:p>
        </p:txBody>
      </p:sp>
      <p:sp>
        <p:nvSpPr>
          <p:cNvPr id="16" name="Rectangle 15"/>
          <p:cNvSpPr/>
          <p:nvPr/>
        </p:nvSpPr>
        <p:spPr>
          <a:xfrm>
            <a:off x="6217920" y="2423160"/>
            <a:ext cx="5669280" cy="64008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514600"/>
            <a:ext cx="1920240" cy="502920"/>
          </a:xfrm>
          <a:prstGeom prst="rect">
            <a:avLst/>
          </a:prstGeom>
          <a:noFill/>
        </p:spPr>
        <p:txBody>
          <a:bodyPr wrap="square"/>
          <a:lstStyle/>
          <a:p>
            <a:pPr algn="l"/>
            <a:r>
              <a:rPr sz="1200" b="0" i="0">
                <a:solidFill>
                  <a:srgbClr val="FFFFFF"/>
                </a:solidFill>
                <a:latin typeface="Calibri"/>
              </a:rPr>
              <a:t>Channel Length</a:t>
            </a:r>
          </a:p>
        </p:txBody>
      </p:sp>
      <p:sp>
        <p:nvSpPr>
          <p:cNvPr id="18" name="TextBox 17"/>
          <p:cNvSpPr txBox="1"/>
          <p:nvPr/>
        </p:nvSpPr>
        <p:spPr>
          <a:xfrm>
            <a:off x="8321040" y="2514600"/>
            <a:ext cx="1920240" cy="502920"/>
          </a:xfrm>
          <a:prstGeom prst="rect">
            <a:avLst/>
          </a:prstGeom>
          <a:noFill/>
        </p:spPr>
        <p:txBody>
          <a:bodyPr wrap="square"/>
          <a:lstStyle/>
          <a:p>
            <a:pPr algn="l"/>
            <a:r>
              <a:rPr sz="1200" b="1" i="0">
                <a:solidFill>
                  <a:srgbClr val="C9A84C"/>
                </a:solidFill>
                <a:latin typeface="Calibri"/>
              </a:rPr>
              <a:t>2,000 m</a:t>
            </a:r>
          </a:p>
        </p:txBody>
      </p:sp>
      <p:sp>
        <p:nvSpPr>
          <p:cNvPr id="19" name="TextBox 18"/>
          <p:cNvSpPr txBox="1"/>
          <p:nvPr/>
        </p:nvSpPr>
        <p:spPr>
          <a:xfrm>
            <a:off x="10332720" y="2514600"/>
            <a:ext cx="1371600" cy="502920"/>
          </a:xfrm>
          <a:prstGeom prst="rect">
            <a:avLst/>
          </a:prstGeom>
          <a:noFill/>
        </p:spPr>
        <p:txBody>
          <a:bodyPr wrap="square"/>
          <a:lstStyle/>
          <a:p>
            <a:pPr algn="l"/>
            <a:r>
              <a:rPr sz="1200" b="0" i="0">
                <a:solidFill>
                  <a:srgbClr val="FFFFFF"/>
                </a:solidFill>
                <a:latin typeface="Calibri"/>
              </a:rPr>
              <a:t>Layout</a:t>
            </a:r>
          </a:p>
        </p:txBody>
      </p:sp>
      <p:sp>
        <p:nvSpPr>
          <p:cNvPr id="20" name="Rectangle 19"/>
          <p:cNvSpPr/>
          <p:nvPr/>
        </p:nvSpPr>
        <p:spPr>
          <a:xfrm>
            <a:off x="6217920" y="3108960"/>
            <a:ext cx="5669280" cy="64008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200400"/>
            <a:ext cx="1920240" cy="502920"/>
          </a:xfrm>
          <a:prstGeom prst="rect">
            <a:avLst/>
          </a:prstGeom>
          <a:noFill/>
        </p:spPr>
        <p:txBody>
          <a:bodyPr wrap="square"/>
          <a:lstStyle/>
          <a:p>
            <a:pPr algn="l"/>
            <a:r>
              <a:rPr sz="1200" b="0" i="0">
                <a:solidFill>
                  <a:srgbClr val="FFFFFF"/>
                </a:solidFill>
                <a:latin typeface="Calibri"/>
              </a:rPr>
              <a:t>Channel Width</a:t>
            </a:r>
          </a:p>
        </p:txBody>
      </p:sp>
      <p:sp>
        <p:nvSpPr>
          <p:cNvPr id="22" name="TextBox 21"/>
          <p:cNvSpPr txBox="1"/>
          <p:nvPr/>
        </p:nvSpPr>
        <p:spPr>
          <a:xfrm>
            <a:off x="8321040" y="3200400"/>
            <a:ext cx="1920240" cy="502920"/>
          </a:xfrm>
          <a:prstGeom prst="rect">
            <a:avLst/>
          </a:prstGeom>
          <a:noFill/>
        </p:spPr>
        <p:txBody>
          <a:bodyPr wrap="square"/>
          <a:lstStyle/>
          <a:p>
            <a:pPr algn="l"/>
            <a:r>
              <a:rPr sz="1200" b="1" i="0">
                <a:solidFill>
                  <a:srgbClr val="C9A84C"/>
                </a:solidFill>
                <a:latin typeface="Calibri"/>
              </a:rPr>
              <a:t>224 m = 7.0 × bmax</a:t>
            </a:r>
          </a:p>
        </p:txBody>
      </p:sp>
      <p:sp>
        <p:nvSpPr>
          <p:cNvPr id="23" name="TextBox 22"/>
          <p:cNvSpPr txBox="1"/>
          <p:nvPr/>
        </p:nvSpPr>
        <p:spPr>
          <a:xfrm>
            <a:off x="10332720" y="3200400"/>
            <a:ext cx="1371600" cy="502920"/>
          </a:xfrm>
          <a:prstGeom prst="rect">
            <a:avLst/>
          </a:prstGeom>
          <a:noFill/>
        </p:spPr>
        <p:txBody>
          <a:bodyPr wrap="square"/>
          <a:lstStyle/>
          <a:p>
            <a:pPr algn="l"/>
            <a:r>
              <a:rPr sz="1200" b="0" i="0">
                <a:solidFill>
                  <a:srgbClr val="FFFFFF"/>
                </a:solidFill>
                <a:latin typeface="Calibri"/>
              </a:rPr>
              <a:t>PIANC 2014</a:t>
            </a:r>
          </a:p>
        </p:txBody>
      </p:sp>
      <p:sp>
        <p:nvSpPr>
          <p:cNvPr id="24" name="Rectangle 23"/>
          <p:cNvSpPr/>
          <p:nvPr/>
        </p:nvSpPr>
        <p:spPr>
          <a:xfrm>
            <a:off x="6217920" y="3794760"/>
            <a:ext cx="5669280" cy="64008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886200"/>
            <a:ext cx="1920240" cy="502920"/>
          </a:xfrm>
          <a:prstGeom prst="rect">
            <a:avLst/>
          </a:prstGeom>
          <a:noFill/>
        </p:spPr>
        <p:txBody>
          <a:bodyPr wrap="square"/>
          <a:lstStyle/>
          <a:p>
            <a:pPr algn="l"/>
            <a:r>
              <a:rPr sz="1200" b="0" i="0">
                <a:solidFill>
                  <a:srgbClr val="FFFFFF"/>
                </a:solidFill>
                <a:latin typeface="Calibri"/>
              </a:rPr>
              <a:t>Dredged Depth</a:t>
            </a:r>
          </a:p>
        </p:txBody>
      </p:sp>
      <p:sp>
        <p:nvSpPr>
          <p:cNvPr id="26" name="TextBox 25"/>
          <p:cNvSpPr txBox="1"/>
          <p:nvPr/>
        </p:nvSpPr>
        <p:spPr>
          <a:xfrm>
            <a:off x="8321040" y="3886200"/>
            <a:ext cx="1920240" cy="502920"/>
          </a:xfrm>
          <a:prstGeom prst="rect">
            <a:avLst/>
          </a:prstGeom>
          <a:noFill/>
        </p:spPr>
        <p:txBody>
          <a:bodyPr wrap="square"/>
          <a:lstStyle/>
          <a:p>
            <a:pPr algn="l"/>
            <a:r>
              <a:rPr sz="1200" b="1" i="0">
                <a:solidFill>
                  <a:srgbClr val="C9A84C"/>
                </a:solidFill>
                <a:latin typeface="Calibri"/>
              </a:rPr>
              <a:t>−13.4 m CD</a:t>
            </a:r>
          </a:p>
        </p:txBody>
      </p:sp>
      <p:sp>
        <p:nvSpPr>
          <p:cNvPr id="27" name="TextBox 26"/>
          <p:cNvSpPr txBox="1"/>
          <p:nvPr/>
        </p:nvSpPr>
        <p:spPr>
          <a:xfrm>
            <a:off x="10332720" y="3886200"/>
            <a:ext cx="1371600" cy="502920"/>
          </a:xfrm>
          <a:prstGeom prst="rect">
            <a:avLst/>
          </a:prstGeom>
          <a:noFill/>
        </p:spPr>
        <p:txBody>
          <a:bodyPr wrap="square"/>
          <a:lstStyle/>
          <a:p>
            <a:pPr algn="l"/>
            <a:r>
              <a:rPr sz="1200" b="0" i="0">
                <a:solidFill>
                  <a:srgbClr val="FFFFFF"/>
                </a:solidFill>
                <a:latin typeface="Calibri"/>
              </a:rPr>
              <a:t>UKC Method</a:t>
            </a:r>
          </a:p>
        </p:txBody>
      </p:sp>
      <p:sp>
        <p:nvSpPr>
          <p:cNvPr id="28" name="Rectangle 27"/>
          <p:cNvSpPr/>
          <p:nvPr/>
        </p:nvSpPr>
        <p:spPr>
          <a:xfrm>
            <a:off x="6217920" y="4480560"/>
            <a:ext cx="5669280" cy="64008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4572000"/>
            <a:ext cx="1920240" cy="502920"/>
          </a:xfrm>
          <a:prstGeom prst="rect">
            <a:avLst/>
          </a:prstGeom>
          <a:noFill/>
        </p:spPr>
        <p:txBody>
          <a:bodyPr wrap="square"/>
          <a:lstStyle/>
          <a:p>
            <a:pPr algn="l"/>
            <a:r>
              <a:rPr sz="1200" b="0" i="0">
                <a:solidFill>
                  <a:srgbClr val="FFFFFF"/>
                </a:solidFill>
                <a:latin typeface="Calibri"/>
              </a:rPr>
              <a:t>Under-Keel Clearance</a:t>
            </a:r>
          </a:p>
        </p:txBody>
      </p:sp>
      <p:sp>
        <p:nvSpPr>
          <p:cNvPr id="30" name="TextBox 29"/>
          <p:cNvSpPr txBox="1"/>
          <p:nvPr/>
        </p:nvSpPr>
        <p:spPr>
          <a:xfrm>
            <a:off x="8321040" y="4572000"/>
            <a:ext cx="1920240" cy="502920"/>
          </a:xfrm>
          <a:prstGeom prst="rect">
            <a:avLst/>
          </a:prstGeom>
          <a:noFill/>
        </p:spPr>
        <p:txBody>
          <a:bodyPr wrap="square"/>
          <a:lstStyle/>
          <a:p>
            <a:pPr algn="l"/>
            <a:r>
              <a:rPr sz="1200" b="1" i="0">
                <a:solidFill>
                  <a:srgbClr val="C9A84C"/>
                </a:solidFill>
                <a:latin typeface="Calibri"/>
              </a:rPr>
              <a:t>15% of dmax = 1.8 m</a:t>
            </a:r>
          </a:p>
        </p:txBody>
      </p:sp>
      <p:sp>
        <p:nvSpPr>
          <p:cNvPr id="31" name="TextBox 30"/>
          <p:cNvSpPr txBox="1"/>
          <p:nvPr/>
        </p:nvSpPr>
        <p:spPr>
          <a:xfrm>
            <a:off x="10332720" y="4572000"/>
            <a:ext cx="1371600" cy="502920"/>
          </a:xfrm>
          <a:prstGeom prst="rect">
            <a:avLst/>
          </a:prstGeom>
          <a:noFill/>
        </p:spPr>
        <p:txBody>
          <a:bodyPr wrap="square"/>
          <a:lstStyle/>
          <a:p>
            <a:pPr algn="l"/>
            <a:r>
              <a:rPr sz="1200" b="0" i="0">
                <a:solidFill>
                  <a:srgbClr val="FFFFFF"/>
                </a:solidFill>
                <a:latin typeface="Calibri"/>
              </a:rPr>
              <a:t>PIANC 2014</a:t>
            </a:r>
          </a:p>
        </p:txBody>
      </p:sp>
      <p:sp>
        <p:nvSpPr>
          <p:cNvPr id="32" name="Rectangle 31"/>
          <p:cNvSpPr/>
          <p:nvPr/>
        </p:nvSpPr>
        <p:spPr>
          <a:xfrm>
            <a:off x="6217920" y="5166360"/>
            <a:ext cx="5669280" cy="64008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5257800"/>
            <a:ext cx="1920240" cy="502920"/>
          </a:xfrm>
          <a:prstGeom prst="rect">
            <a:avLst/>
          </a:prstGeom>
          <a:noFill/>
        </p:spPr>
        <p:txBody>
          <a:bodyPr wrap="square"/>
          <a:lstStyle/>
          <a:p>
            <a:pPr algn="l"/>
            <a:r>
              <a:rPr sz="1200" b="0" i="0">
                <a:solidFill>
                  <a:srgbClr val="FFFFFF"/>
                </a:solidFill>
                <a:latin typeface="Calibri"/>
              </a:rPr>
              <a:t>Bend Radius</a:t>
            </a:r>
          </a:p>
        </p:txBody>
      </p:sp>
      <p:sp>
        <p:nvSpPr>
          <p:cNvPr id="34" name="TextBox 33"/>
          <p:cNvSpPr txBox="1"/>
          <p:nvPr/>
        </p:nvSpPr>
        <p:spPr>
          <a:xfrm>
            <a:off x="8321040" y="5257800"/>
            <a:ext cx="1920240" cy="502920"/>
          </a:xfrm>
          <a:prstGeom prst="rect">
            <a:avLst/>
          </a:prstGeom>
          <a:noFill/>
        </p:spPr>
        <p:txBody>
          <a:bodyPr wrap="square"/>
          <a:lstStyle/>
          <a:p>
            <a:pPr algn="l"/>
            <a:r>
              <a:rPr sz="1200" b="1" i="0">
                <a:solidFill>
                  <a:srgbClr val="C9A84C"/>
                </a:solidFill>
                <a:latin typeface="Calibri"/>
              </a:rPr>
              <a:t>1,500 m = 6.0 × Lmax</a:t>
            </a:r>
          </a:p>
        </p:txBody>
      </p:sp>
      <p:sp>
        <p:nvSpPr>
          <p:cNvPr id="35" name="TextBox 34"/>
          <p:cNvSpPr txBox="1"/>
          <p:nvPr/>
        </p:nvSpPr>
        <p:spPr>
          <a:xfrm>
            <a:off x="10332720" y="5257800"/>
            <a:ext cx="1371600" cy="502920"/>
          </a:xfrm>
          <a:prstGeom prst="rect">
            <a:avLst/>
          </a:prstGeom>
          <a:noFill/>
        </p:spPr>
        <p:txBody>
          <a:bodyPr wrap="square"/>
          <a:lstStyle/>
          <a:p>
            <a:pPr algn="l"/>
            <a:r>
              <a:rPr sz="1200" b="0" i="0">
                <a:solidFill>
                  <a:srgbClr val="FFFFFF"/>
                </a:solidFill>
                <a:latin typeface="Calibri"/>
              </a:rPr>
              <a:t>PIANC 2014</a:t>
            </a:r>
          </a:p>
        </p:txBody>
      </p:sp>
      <p:sp>
        <p:nvSpPr>
          <p:cNvPr id="36" name="Rectangle 35"/>
          <p:cNvSpPr/>
          <p:nvPr/>
        </p:nvSpPr>
        <p:spPr>
          <a:xfrm>
            <a:off x="6217920" y="5852160"/>
            <a:ext cx="5669280" cy="4572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5852160"/>
            <a:ext cx="5486400" cy="457200"/>
          </a:xfrm>
          <a:prstGeom prst="rect">
            <a:avLst/>
          </a:prstGeom>
          <a:noFill/>
        </p:spPr>
        <p:txBody>
          <a:bodyPr wrap="square"/>
          <a:lstStyle/>
          <a:p>
            <a:pPr algn="l"/>
            <a:r>
              <a:rPr sz="1100" b="1" i="0">
                <a:solidFill>
                  <a:srgbClr val="C9A84C"/>
                </a:solidFill>
                <a:latin typeface="Calibri"/>
              </a:rPr>
              <a:t>W = 7.0 × bmax = 7.0 × 32 = 224 m  |  h = dmax × 1.15 + 0.5 = 13.4 m CD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Turning Basin Design</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Tug-Assisted Rotation — PIANC D = 1.5 × Lmax</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943600" cy="47548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749039"/>
            <a:ext cx="5943600" cy="731520"/>
          </a:xfrm>
          <a:prstGeom prst="rect">
            <a:avLst/>
          </a:prstGeom>
          <a:noFill/>
        </p:spPr>
        <p:txBody>
          <a:bodyPr wrap="square"/>
          <a:lstStyle/>
          <a:p>
            <a:pPr algn="ctr"/>
            <a:r>
              <a:rPr sz="1200" b="0" i="0">
                <a:solidFill>
                  <a:srgbClr val="D1D9E6"/>
                </a:solidFill>
                <a:latin typeface="Calibri"/>
              </a:rPr>
              <a:t>[ TURNING BASIN — Plan Geometry ]
Ø 375 m circular basin + tug basin 180×200 m</a:t>
            </a:r>
          </a:p>
        </p:txBody>
      </p:sp>
      <p:sp>
        <p:nvSpPr>
          <p:cNvPr id="12" name="Rectangle 11"/>
          <p:cNvSpPr/>
          <p:nvPr/>
        </p:nvSpPr>
        <p:spPr>
          <a:xfrm>
            <a:off x="6675120" y="1920240"/>
            <a:ext cx="5212080" cy="91440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2057400"/>
            <a:ext cx="5029200" cy="640080"/>
          </a:xfrm>
          <a:prstGeom prst="rect">
            <a:avLst/>
          </a:prstGeom>
          <a:noFill/>
        </p:spPr>
        <p:txBody>
          <a:bodyPr wrap="square"/>
          <a:lstStyle/>
          <a:p>
            <a:pPr algn="ctr"/>
            <a:r>
              <a:rPr sz="1800" b="1" i="0">
                <a:solidFill>
                  <a:srgbClr val="C9A84C"/>
                </a:solidFill>
                <a:latin typeface="Calibri"/>
              </a:rPr>
              <a:t>D = 1.5 × Lmax = 1.5 × 250 = 375 m</a:t>
            </a:r>
          </a:p>
        </p:txBody>
      </p:sp>
      <p:sp>
        <p:nvSpPr>
          <p:cNvPr id="14" name="Rectangle 13"/>
          <p:cNvSpPr/>
          <p:nvPr/>
        </p:nvSpPr>
        <p:spPr>
          <a:xfrm>
            <a:off x="6675120" y="3017520"/>
            <a:ext cx="246888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108960"/>
            <a:ext cx="2468880" cy="603504"/>
          </a:xfrm>
          <a:prstGeom prst="rect">
            <a:avLst/>
          </a:prstGeom>
          <a:noFill/>
        </p:spPr>
        <p:txBody>
          <a:bodyPr wrap="square"/>
          <a:lstStyle/>
          <a:p>
            <a:pPr algn="ctr"/>
            <a:r>
              <a:rPr sz="2600" b="1" i="0">
                <a:solidFill>
                  <a:srgbClr val="C9A84C"/>
                </a:solidFill>
                <a:latin typeface="Calibri"/>
              </a:rPr>
              <a:t>375 m</a:t>
            </a:r>
          </a:p>
        </p:txBody>
      </p:sp>
      <p:sp>
        <p:nvSpPr>
          <p:cNvPr id="16" name="TextBox 15"/>
          <p:cNvSpPr txBox="1"/>
          <p:nvPr/>
        </p:nvSpPr>
        <p:spPr>
          <a:xfrm>
            <a:off x="6675120" y="3621024"/>
            <a:ext cx="2468880" cy="438912"/>
          </a:xfrm>
          <a:prstGeom prst="rect">
            <a:avLst/>
          </a:prstGeom>
          <a:noFill/>
        </p:spPr>
        <p:txBody>
          <a:bodyPr wrap="square"/>
          <a:lstStyle/>
          <a:p>
            <a:pPr algn="ctr"/>
            <a:r>
              <a:rPr sz="1000" b="0" i="0">
                <a:solidFill>
                  <a:srgbClr val="D1D9E6"/>
                </a:solidFill>
                <a:latin typeface="Calibri"/>
              </a:rPr>
              <a:t>Turning Basin Ø</a:t>
            </a:r>
          </a:p>
        </p:txBody>
      </p:sp>
      <p:sp>
        <p:nvSpPr>
          <p:cNvPr id="17" name="Rectangle 16"/>
          <p:cNvSpPr/>
          <p:nvPr/>
        </p:nvSpPr>
        <p:spPr>
          <a:xfrm>
            <a:off x="9326880" y="3017520"/>
            <a:ext cx="246888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3108960"/>
            <a:ext cx="2468880" cy="603504"/>
          </a:xfrm>
          <a:prstGeom prst="rect">
            <a:avLst/>
          </a:prstGeom>
          <a:noFill/>
        </p:spPr>
        <p:txBody>
          <a:bodyPr wrap="square"/>
          <a:lstStyle/>
          <a:p>
            <a:pPr algn="ctr"/>
            <a:r>
              <a:rPr sz="2600" b="1" i="0">
                <a:solidFill>
                  <a:srgbClr val="C9A84C"/>
                </a:solidFill>
                <a:latin typeface="Calibri"/>
              </a:rPr>
              <a:t>375 m</a:t>
            </a:r>
          </a:p>
        </p:txBody>
      </p:sp>
      <p:sp>
        <p:nvSpPr>
          <p:cNvPr id="19" name="TextBox 18"/>
          <p:cNvSpPr txBox="1"/>
          <p:nvPr/>
        </p:nvSpPr>
        <p:spPr>
          <a:xfrm>
            <a:off x="9326880" y="3621024"/>
            <a:ext cx="2468880" cy="438912"/>
          </a:xfrm>
          <a:prstGeom prst="rect">
            <a:avLst/>
          </a:prstGeom>
          <a:noFill/>
        </p:spPr>
        <p:txBody>
          <a:bodyPr wrap="square"/>
          <a:lstStyle/>
          <a:p>
            <a:pPr algn="ctr"/>
            <a:r>
              <a:rPr sz="1000" b="0" i="0">
                <a:solidFill>
                  <a:srgbClr val="D1D9E6"/>
                </a:solidFill>
                <a:latin typeface="Calibri"/>
              </a:rPr>
              <a:t>PIANC Min (1.5×Lmax)</a:t>
            </a:r>
          </a:p>
        </p:txBody>
      </p:sp>
      <p:sp>
        <p:nvSpPr>
          <p:cNvPr id="20" name="Rectangle 19"/>
          <p:cNvSpPr/>
          <p:nvPr/>
        </p:nvSpPr>
        <p:spPr>
          <a:xfrm>
            <a:off x="6675120" y="4297680"/>
            <a:ext cx="5120640" cy="10972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4389120"/>
            <a:ext cx="5120640" cy="603504"/>
          </a:xfrm>
          <a:prstGeom prst="rect">
            <a:avLst/>
          </a:prstGeom>
          <a:noFill/>
        </p:spPr>
        <p:txBody>
          <a:bodyPr wrap="square"/>
          <a:lstStyle/>
          <a:p>
            <a:pPr algn="ctr"/>
            <a:r>
              <a:rPr sz="2600" b="1" i="0">
                <a:solidFill>
                  <a:srgbClr val="C9A84C"/>
                </a:solidFill>
                <a:latin typeface="Calibri"/>
              </a:rPr>
              <a:t>PASS ✓</a:t>
            </a:r>
          </a:p>
        </p:txBody>
      </p:sp>
      <p:sp>
        <p:nvSpPr>
          <p:cNvPr id="22" name="TextBox 21"/>
          <p:cNvSpPr txBox="1"/>
          <p:nvPr/>
        </p:nvSpPr>
        <p:spPr>
          <a:xfrm>
            <a:off x="6675120" y="4901184"/>
            <a:ext cx="5120640" cy="438912"/>
          </a:xfrm>
          <a:prstGeom prst="rect">
            <a:avLst/>
          </a:prstGeom>
          <a:noFill/>
        </p:spPr>
        <p:txBody>
          <a:bodyPr wrap="square"/>
          <a:lstStyle/>
          <a:p>
            <a:pPr algn="ctr"/>
            <a:r>
              <a:rPr sz="1000" b="0" i="0">
                <a:solidFill>
                  <a:srgbClr val="D1D9E6"/>
                </a:solidFill>
                <a:latin typeface="Calibri"/>
              </a:rPr>
              <a:t>Status</a:t>
            </a:r>
          </a:p>
        </p:txBody>
      </p:sp>
      <p:sp>
        <p:nvSpPr>
          <p:cNvPr id="23" name="TextBox 22"/>
          <p:cNvSpPr txBox="1"/>
          <p:nvPr/>
        </p:nvSpPr>
        <p:spPr>
          <a:xfrm>
            <a:off x="6675120" y="5577840"/>
            <a:ext cx="5212080" cy="731520"/>
          </a:xfrm>
          <a:prstGeom prst="rect">
            <a:avLst/>
          </a:prstGeom>
          <a:noFill/>
        </p:spPr>
        <p:txBody>
          <a:bodyPr wrap="square"/>
          <a:lstStyle/>
          <a:p>
            <a:pPr algn="l"/>
            <a:r>
              <a:rPr sz="1100" b="0" i="0">
                <a:solidFill>
                  <a:srgbClr val="D1D9E6"/>
                </a:solidFill>
                <a:latin typeface="Calibri"/>
              </a:rPr>
              <a:t>Tug Basin: 180×200 m adjacent
Anchorage: 800×600 m NW of channel
Depth: −13.4 m CD (= channel depth)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Port Masterplan</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Complete Layout — 293 Hectares, 451 AutoCAD Entities</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365760" y="1691640"/>
            <a:ext cx="11430000" cy="480060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0"/>
            <a:ext cx="11247120" cy="1097280"/>
          </a:xfrm>
          <a:prstGeom prst="rect">
            <a:avLst/>
          </a:prstGeom>
          <a:noFill/>
        </p:spPr>
        <p:txBody>
          <a:bodyPr wrap="square"/>
          <a:lstStyle/>
          <a:p>
            <a:pPr algn="ctr"/>
            <a:r>
              <a:rPr sz="1300" b="0" i="0">
                <a:solidFill>
                  <a:srgbClr val="D1D9E6"/>
                </a:solidFill>
                <a:latin typeface="Calibri"/>
              </a:rPr>
              <a:t>[ MASTERPLAN CAD — Suez_Port_Masterplan.png / Drawing SPM-001 Rev A ]
Navigation Channel  ·  Turning Basin  ·  Breakwaters  ·  Liquid Bulk  ·  Dry Bulk  ·  Container  ·  Roads  ·  Facilities</a:t>
            </a:r>
          </a:p>
        </p:txBody>
      </p:sp>
      <p:sp>
        <p:nvSpPr>
          <p:cNvPr id="12" name="Rectangle 11"/>
          <p:cNvSpPr/>
          <p:nvPr/>
        </p:nvSpPr>
        <p:spPr>
          <a:xfrm>
            <a:off x="365760" y="5943600"/>
            <a:ext cx="2834640" cy="54864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989320"/>
            <a:ext cx="2651760" cy="457200"/>
          </a:xfrm>
          <a:prstGeom prst="rect">
            <a:avLst/>
          </a:prstGeom>
          <a:noFill/>
        </p:spPr>
        <p:txBody>
          <a:bodyPr wrap="square"/>
          <a:lstStyle/>
          <a:p>
            <a:pPr algn="ctr"/>
            <a:r>
              <a:rPr sz="1300" b="1" i="0">
                <a:solidFill>
                  <a:srgbClr val="C9A84C"/>
                </a:solidFill>
                <a:latin typeface="Calibri"/>
              </a:rPr>
              <a:t>293 ha  Total Area</a:t>
            </a:r>
          </a:p>
        </p:txBody>
      </p:sp>
      <p:sp>
        <p:nvSpPr>
          <p:cNvPr id="14" name="Rectangle 13"/>
          <p:cNvSpPr/>
          <p:nvPr/>
        </p:nvSpPr>
        <p:spPr>
          <a:xfrm>
            <a:off x="3227832" y="5943600"/>
            <a:ext cx="2834640" cy="54864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5989320"/>
            <a:ext cx="2651760" cy="457200"/>
          </a:xfrm>
          <a:prstGeom prst="rect">
            <a:avLst/>
          </a:prstGeom>
          <a:noFill/>
        </p:spPr>
        <p:txBody>
          <a:bodyPr wrap="square"/>
          <a:lstStyle/>
          <a:p>
            <a:pPr algn="ctr"/>
            <a:r>
              <a:rPr sz="1300" b="1" i="0">
                <a:solidFill>
                  <a:srgbClr val="C9A84C"/>
                </a:solidFill>
                <a:latin typeface="Calibri"/>
              </a:rPr>
              <a:t>8  Berths</a:t>
            </a:r>
          </a:p>
        </p:txBody>
      </p:sp>
      <p:sp>
        <p:nvSpPr>
          <p:cNvPr id="16" name="Rectangle 15"/>
          <p:cNvSpPr/>
          <p:nvPr/>
        </p:nvSpPr>
        <p:spPr>
          <a:xfrm>
            <a:off x="6089904" y="5943600"/>
            <a:ext cx="2834640" cy="54864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989320"/>
            <a:ext cx="2651760" cy="457200"/>
          </a:xfrm>
          <a:prstGeom prst="rect">
            <a:avLst/>
          </a:prstGeom>
          <a:noFill/>
        </p:spPr>
        <p:txBody>
          <a:bodyPr wrap="square"/>
          <a:lstStyle/>
          <a:p>
            <a:pPr algn="ctr"/>
            <a:r>
              <a:rPr sz="1300" b="1" i="0">
                <a:solidFill>
                  <a:srgbClr val="C9A84C"/>
                </a:solidFill>
                <a:latin typeface="Calibri"/>
              </a:rPr>
              <a:t>2,050 m  Quay Length</a:t>
            </a:r>
          </a:p>
        </p:txBody>
      </p:sp>
      <p:sp>
        <p:nvSpPr>
          <p:cNvPr id="18" name="Rectangle 17"/>
          <p:cNvSpPr/>
          <p:nvPr/>
        </p:nvSpPr>
        <p:spPr>
          <a:xfrm>
            <a:off x="8951976" y="5943600"/>
            <a:ext cx="2834640" cy="54864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5989320"/>
            <a:ext cx="2651760" cy="457200"/>
          </a:xfrm>
          <a:prstGeom prst="rect">
            <a:avLst/>
          </a:prstGeom>
          <a:noFill/>
        </p:spPr>
        <p:txBody>
          <a:bodyPr wrap="square"/>
          <a:lstStyle/>
          <a:p>
            <a:pPr algn="ctr"/>
            <a:r>
              <a:rPr sz="1300" b="1" i="0">
                <a:solidFill>
                  <a:srgbClr val="C9A84C"/>
                </a:solidFill>
                <a:latin typeface="Calibri"/>
              </a:rPr>
              <a:t>451  CAD Entities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Liquid Bulk Terminal</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Petroleum &amp; Petrochemical Products — NFPA 30 Compliant</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943600" cy="47548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657600"/>
            <a:ext cx="5943600" cy="731520"/>
          </a:xfrm>
          <a:prstGeom prst="rect">
            <a:avLst/>
          </a:prstGeom>
          <a:noFill/>
        </p:spPr>
        <p:txBody>
          <a:bodyPr wrap="square"/>
          <a:lstStyle/>
          <a:p>
            <a:pPr algn="ctr"/>
            <a:r>
              <a:rPr sz="1200" b="0" i="0">
                <a:solidFill>
                  <a:srgbClr val="D1D9E6"/>
                </a:solidFill>
                <a:latin typeface="Calibri"/>
              </a:rPr>
              <a:t>[ LIQUID BULK TERMINAL — CAD Detail ]
5 Tanks Ø30m | NFPA 30 Compliant Spacing</a:t>
            </a:r>
          </a:p>
        </p:txBody>
      </p:sp>
      <p:sp>
        <p:nvSpPr>
          <p:cNvPr id="12" name="TextBox 11"/>
          <p:cNvSpPr txBox="1"/>
          <p:nvPr/>
        </p:nvSpPr>
        <p:spPr>
          <a:xfrm>
            <a:off x="6675120" y="1920240"/>
            <a:ext cx="2011680" cy="594360"/>
          </a:xfrm>
          <a:prstGeom prst="rect">
            <a:avLst/>
          </a:prstGeom>
          <a:noFill/>
        </p:spPr>
        <p:txBody>
          <a:bodyPr wrap="square"/>
          <a:lstStyle/>
          <a:p>
            <a:pPr algn="l"/>
            <a:r>
              <a:rPr sz="1200" b="1" i="0">
                <a:solidFill>
                  <a:srgbClr val="E8D090"/>
                </a:solidFill>
                <a:latin typeface="Calibri"/>
              </a:rPr>
              <a:t>Storage Tanks</a:t>
            </a:r>
          </a:p>
        </p:txBody>
      </p:sp>
      <p:sp>
        <p:nvSpPr>
          <p:cNvPr id="13" name="TextBox 12"/>
          <p:cNvSpPr txBox="1"/>
          <p:nvPr/>
        </p:nvSpPr>
        <p:spPr>
          <a:xfrm>
            <a:off x="8686800" y="1920240"/>
            <a:ext cx="3200400" cy="594360"/>
          </a:xfrm>
          <a:prstGeom prst="rect">
            <a:avLst/>
          </a:prstGeom>
          <a:noFill/>
        </p:spPr>
        <p:txBody>
          <a:bodyPr wrap="square"/>
          <a:lstStyle/>
          <a:p>
            <a:pPr algn="l"/>
            <a:r>
              <a:rPr sz="1200" b="0" i="0">
                <a:solidFill>
                  <a:srgbClr val="FFFFFF"/>
                </a:solidFill>
                <a:latin typeface="Calibri"/>
              </a:rPr>
              <a:t>5 × Ø 30 m, within continuous bund</a:t>
            </a:r>
          </a:p>
        </p:txBody>
      </p:sp>
      <p:sp>
        <p:nvSpPr>
          <p:cNvPr id="14" name="TextBox 13"/>
          <p:cNvSpPr txBox="1"/>
          <p:nvPr/>
        </p:nvSpPr>
        <p:spPr>
          <a:xfrm>
            <a:off x="6675120" y="2633472"/>
            <a:ext cx="2011680" cy="594360"/>
          </a:xfrm>
          <a:prstGeom prst="rect">
            <a:avLst/>
          </a:prstGeom>
          <a:noFill/>
        </p:spPr>
        <p:txBody>
          <a:bodyPr wrap="square"/>
          <a:lstStyle/>
          <a:p>
            <a:pPr algn="l"/>
            <a:r>
              <a:rPr sz="1200" b="1" i="0">
                <a:solidFill>
                  <a:srgbClr val="E8D090"/>
                </a:solidFill>
                <a:latin typeface="Calibri"/>
              </a:rPr>
              <a:t>Tank Spacing (c/c)</a:t>
            </a:r>
          </a:p>
        </p:txBody>
      </p:sp>
      <p:sp>
        <p:nvSpPr>
          <p:cNvPr id="15" name="TextBox 14"/>
          <p:cNvSpPr txBox="1"/>
          <p:nvPr/>
        </p:nvSpPr>
        <p:spPr>
          <a:xfrm>
            <a:off x="8686800" y="2633472"/>
            <a:ext cx="3200400" cy="594360"/>
          </a:xfrm>
          <a:prstGeom prst="rect">
            <a:avLst/>
          </a:prstGeom>
          <a:noFill/>
        </p:spPr>
        <p:txBody>
          <a:bodyPr wrap="square"/>
          <a:lstStyle/>
          <a:p>
            <a:pPr algn="l"/>
            <a:r>
              <a:rPr sz="1200" b="0" i="0">
                <a:solidFill>
                  <a:srgbClr val="FFFFFF"/>
                </a:solidFill>
                <a:latin typeface="Calibri"/>
              </a:rPr>
              <a:t>45 m = 1.5 × Ø  (NFPA 30) ✓</a:t>
            </a:r>
          </a:p>
        </p:txBody>
      </p:sp>
      <p:sp>
        <p:nvSpPr>
          <p:cNvPr id="16" name="TextBox 15"/>
          <p:cNvSpPr txBox="1"/>
          <p:nvPr/>
        </p:nvSpPr>
        <p:spPr>
          <a:xfrm>
            <a:off x="6675120" y="3346704"/>
            <a:ext cx="2011680" cy="594360"/>
          </a:xfrm>
          <a:prstGeom prst="rect">
            <a:avLst/>
          </a:prstGeom>
          <a:noFill/>
        </p:spPr>
        <p:txBody>
          <a:bodyPr wrap="square"/>
          <a:lstStyle/>
          <a:p>
            <a:pPr algn="l"/>
            <a:r>
              <a:rPr sz="1200" b="1" i="0">
                <a:solidFill>
                  <a:srgbClr val="E8D090"/>
                </a:solidFill>
                <a:latin typeface="Calibri"/>
              </a:rPr>
              <a:t>Berth Length</a:t>
            </a:r>
          </a:p>
        </p:txBody>
      </p:sp>
      <p:sp>
        <p:nvSpPr>
          <p:cNvPr id="17" name="TextBox 16"/>
          <p:cNvSpPr txBox="1"/>
          <p:nvPr/>
        </p:nvSpPr>
        <p:spPr>
          <a:xfrm>
            <a:off x="8686800" y="3346704"/>
            <a:ext cx="3200400" cy="594360"/>
          </a:xfrm>
          <a:prstGeom prst="rect">
            <a:avLst/>
          </a:prstGeom>
          <a:noFill/>
        </p:spPr>
        <p:txBody>
          <a:bodyPr wrap="square"/>
          <a:lstStyle/>
          <a:p>
            <a:pPr algn="l"/>
            <a:r>
              <a:rPr sz="1200" b="0" i="0">
                <a:solidFill>
                  <a:srgbClr val="FFFFFF"/>
                </a:solidFill>
                <a:latin typeface="Calibri"/>
              </a:rPr>
              <a:t>≥ 275 m (= 1.1 × Lmax)</a:t>
            </a:r>
          </a:p>
        </p:txBody>
      </p:sp>
      <p:sp>
        <p:nvSpPr>
          <p:cNvPr id="18" name="TextBox 17"/>
          <p:cNvSpPr txBox="1"/>
          <p:nvPr/>
        </p:nvSpPr>
        <p:spPr>
          <a:xfrm>
            <a:off x="6675120" y="4059936"/>
            <a:ext cx="2011680" cy="594360"/>
          </a:xfrm>
          <a:prstGeom prst="rect">
            <a:avLst/>
          </a:prstGeom>
          <a:noFill/>
        </p:spPr>
        <p:txBody>
          <a:bodyPr wrap="square"/>
          <a:lstStyle/>
          <a:p>
            <a:pPr algn="l"/>
            <a:r>
              <a:rPr sz="1200" b="1" i="0">
                <a:solidFill>
                  <a:srgbClr val="E8D090"/>
                </a:solidFill>
                <a:latin typeface="Calibri"/>
              </a:rPr>
              <a:t>Fire Station</a:t>
            </a:r>
          </a:p>
        </p:txBody>
      </p:sp>
      <p:sp>
        <p:nvSpPr>
          <p:cNvPr id="19" name="TextBox 18"/>
          <p:cNvSpPr txBox="1"/>
          <p:nvPr/>
        </p:nvSpPr>
        <p:spPr>
          <a:xfrm>
            <a:off x="8686800" y="4059936"/>
            <a:ext cx="3200400" cy="594360"/>
          </a:xfrm>
          <a:prstGeom prst="rect">
            <a:avLst/>
          </a:prstGeom>
          <a:noFill/>
        </p:spPr>
        <p:txBody>
          <a:bodyPr wrap="square"/>
          <a:lstStyle/>
          <a:p>
            <a:pPr algn="l"/>
            <a:r>
              <a:rPr sz="1200" b="0" i="0">
                <a:solidFill>
                  <a:srgbClr val="FFFFFF"/>
                </a:solidFill>
                <a:latin typeface="Calibri"/>
              </a:rPr>
              <a:t>160 × 140 m adjacent</a:t>
            </a:r>
          </a:p>
        </p:txBody>
      </p:sp>
      <p:sp>
        <p:nvSpPr>
          <p:cNvPr id="20" name="TextBox 19"/>
          <p:cNvSpPr txBox="1"/>
          <p:nvPr/>
        </p:nvSpPr>
        <p:spPr>
          <a:xfrm>
            <a:off x="6675120" y="4773168"/>
            <a:ext cx="2011680" cy="594360"/>
          </a:xfrm>
          <a:prstGeom prst="rect">
            <a:avLst/>
          </a:prstGeom>
          <a:noFill/>
        </p:spPr>
        <p:txBody>
          <a:bodyPr wrap="square"/>
          <a:lstStyle/>
          <a:p>
            <a:pPr algn="l"/>
            <a:r>
              <a:rPr sz="1200" b="1" i="0">
                <a:solidFill>
                  <a:srgbClr val="E8D090"/>
                </a:solidFill>
                <a:latin typeface="Calibri"/>
              </a:rPr>
              <a:t>Cargo Type</a:t>
            </a:r>
          </a:p>
        </p:txBody>
      </p:sp>
      <p:sp>
        <p:nvSpPr>
          <p:cNvPr id="21" name="TextBox 20"/>
          <p:cNvSpPr txBox="1"/>
          <p:nvPr/>
        </p:nvSpPr>
        <p:spPr>
          <a:xfrm>
            <a:off x="8686800" y="4773168"/>
            <a:ext cx="3200400" cy="594360"/>
          </a:xfrm>
          <a:prstGeom prst="rect">
            <a:avLst/>
          </a:prstGeom>
          <a:noFill/>
        </p:spPr>
        <p:txBody>
          <a:bodyPr wrap="square"/>
          <a:lstStyle/>
          <a:p>
            <a:pPr algn="l"/>
            <a:r>
              <a:rPr sz="1200" b="0" i="0">
                <a:solidFill>
                  <a:srgbClr val="FFFFFF"/>
                </a:solidFill>
                <a:latin typeface="Calibri"/>
              </a:rPr>
              <a:t>Petroleum / Petrochemicals</a:t>
            </a:r>
          </a:p>
        </p:txBody>
      </p:sp>
      <p:sp>
        <p:nvSpPr>
          <p:cNvPr id="22" name="TextBox 21"/>
          <p:cNvSpPr txBox="1"/>
          <p:nvPr/>
        </p:nvSpPr>
        <p:spPr>
          <a:xfrm>
            <a:off x="6675120" y="5486400"/>
            <a:ext cx="2011680" cy="594360"/>
          </a:xfrm>
          <a:prstGeom prst="rect">
            <a:avLst/>
          </a:prstGeom>
          <a:noFill/>
        </p:spPr>
        <p:txBody>
          <a:bodyPr wrap="square"/>
          <a:lstStyle/>
          <a:p>
            <a:pPr algn="l"/>
            <a:r>
              <a:rPr sz="1200" b="1" i="0">
                <a:solidFill>
                  <a:srgbClr val="E8D090"/>
                </a:solidFill>
                <a:latin typeface="Calibri"/>
              </a:rPr>
              <a:t>Bund Area</a:t>
            </a:r>
          </a:p>
        </p:txBody>
      </p:sp>
      <p:sp>
        <p:nvSpPr>
          <p:cNvPr id="23" name="TextBox 22"/>
          <p:cNvSpPr txBox="1"/>
          <p:nvPr/>
        </p:nvSpPr>
        <p:spPr>
          <a:xfrm>
            <a:off x="8686800" y="5486400"/>
            <a:ext cx="3200400" cy="594360"/>
          </a:xfrm>
          <a:prstGeom prst="rect">
            <a:avLst/>
          </a:prstGeom>
          <a:noFill/>
        </p:spPr>
        <p:txBody>
          <a:bodyPr wrap="square"/>
          <a:lstStyle/>
          <a:p>
            <a:pPr algn="l"/>
            <a:r>
              <a:rPr sz="1200" b="0" i="0">
                <a:solidFill>
                  <a:srgbClr val="FFFFFF"/>
                </a:solidFill>
                <a:latin typeface="Calibri"/>
              </a:rPr>
              <a:t>Continuous bund per NFPA 30</a:t>
            </a:r>
          </a:p>
        </p:txBody>
      </p:sp>
      <p:sp>
        <p:nvSpPr>
          <p:cNvPr id="24" name="Rectangle 23"/>
          <p:cNvSpPr/>
          <p:nvPr/>
        </p:nvSpPr>
        <p:spPr>
          <a:xfrm>
            <a:off x="6675120" y="6035040"/>
            <a:ext cx="521208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0" y="6053328"/>
            <a:ext cx="5029200" cy="411480"/>
          </a:xfrm>
          <a:prstGeom prst="rect">
            <a:avLst/>
          </a:prstGeom>
          <a:noFill/>
        </p:spPr>
        <p:txBody>
          <a:bodyPr wrap="square"/>
          <a:lstStyle/>
          <a:p>
            <a:pPr algn="ctr"/>
            <a:r>
              <a:rPr sz="1300" b="1" i="0">
                <a:solidFill>
                  <a:srgbClr val="FFFFFF"/>
                </a:solidFill>
                <a:latin typeface="Calibri"/>
              </a:rPr>
              <a:t>Tank Spacing Check: 45 m = 1.5 × Ø30 m  →  PASS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Dry Bulk Terminal</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Grain, Minerals &amp; Aggregates — Silo Storage</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943600" cy="47548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657600"/>
            <a:ext cx="5943600" cy="731520"/>
          </a:xfrm>
          <a:prstGeom prst="rect">
            <a:avLst/>
          </a:prstGeom>
          <a:noFill/>
        </p:spPr>
        <p:txBody>
          <a:bodyPr wrap="square"/>
          <a:lstStyle/>
          <a:p>
            <a:pPr algn="ctr"/>
            <a:r>
              <a:rPr sz="1200" b="0" i="0">
                <a:solidFill>
                  <a:srgbClr val="D1D9E6"/>
                </a:solidFill>
                <a:latin typeface="Calibri"/>
              </a:rPr>
              <a:t>[ DRY BULK TERMINAL — CAD Detail ]
10 Silos Ø10m | Conveyor Belt System</a:t>
            </a:r>
          </a:p>
        </p:txBody>
      </p:sp>
      <p:sp>
        <p:nvSpPr>
          <p:cNvPr id="12" name="TextBox 11"/>
          <p:cNvSpPr txBox="1"/>
          <p:nvPr/>
        </p:nvSpPr>
        <p:spPr>
          <a:xfrm>
            <a:off x="6675120" y="2011680"/>
            <a:ext cx="2286000" cy="640080"/>
          </a:xfrm>
          <a:prstGeom prst="rect">
            <a:avLst/>
          </a:prstGeom>
          <a:noFill/>
        </p:spPr>
        <p:txBody>
          <a:bodyPr wrap="square"/>
          <a:lstStyle/>
          <a:p>
            <a:pPr algn="l"/>
            <a:r>
              <a:rPr sz="1200" b="1" i="0">
                <a:solidFill>
                  <a:srgbClr val="E8D090"/>
                </a:solidFill>
                <a:latin typeface="Calibri"/>
              </a:rPr>
              <a:t>Storage Silos</a:t>
            </a:r>
          </a:p>
        </p:txBody>
      </p:sp>
      <p:sp>
        <p:nvSpPr>
          <p:cNvPr id="13" name="TextBox 12"/>
          <p:cNvSpPr txBox="1"/>
          <p:nvPr/>
        </p:nvSpPr>
        <p:spPr>
          <a:xfrm>
            <a:off x="8961120" y="2011680"/>
            <a:ext cx="2926080" cy="640080"/>
          </a:xfrm>
          <a:prstGeom prst="rect">
            <a:avLst/>
          </a:prstGeom>
          <a:noFill/>
        </p:spPr>
        <p:txBody>
          <a:bodyPr wrap="square"/>
          <a:lstStyle/>
          <a:p>
            <a:pPr algn="l"/>
            <a:r>
              <a:rPr sz="1200" b="0" i="0">
                <a:solidFill>
                  <a:srgbClr val="FFFFFF"/>
                </a:solidFill>
                <a:latin typeface="Calibri"/>
              </a:rPr>
              <a:t>10 × Ø 10 m</a:t>
            </a:r>
          </a:p>
        </p:txBody>
      </p:sp>
      <p:sp>
        <p:nvSpPr>
          <p:cNvPr id="14" name="TextBox 13"/>
          <p:cNvSpPr txBox="1"/>
          <p:nvPr/>
        </p:nvSpPr>
        <p:spPr>
          <a:xfrm>
            <a:off x="6675120" y="2788920"/>
            <a:ext cx="2286000" cy="640080"/>
          </a:xfrm>
          <a:prstGeom prst="rect">
            <a:avLst/>
          </a:prstGeom>
          <a:noFill/>
        </p:spPr>
        <p:txBody>
          <a:bodyPr wrap="square"/>
          <a:lstStyle/>
          <a:p>
            <a:pPr algn="l"/>
            <a:r>
              <a:rPr sz="1200" b="1" i="0">
                <a:solidFill>
                  <a:srgbClr val="E8D090"/>
                </a:solidFill>
                <a:latin typeface="Calibri"/>
              </a:rPr>
              <a:t>Berth Length</a:t>
            </a:r>
          </a:p>
        </p:txBody>
      </p:sp>
      <p:sp>
        <p:nvSpPr>
          <p:cNvPr id="15" name="TextBox 14"/>
          <p:cNvSpPr txBox="1"/>
          <p:nvPr/>
        </p:nvSpPr>
        <p:spPr>
          <a:xfrm>
            <a:off x="8961120" y="2788920"/>
            <a:ext cx="2926080" cy="640080"/>
          </a:xfrm>
          <a:prstGeom prst="rect">
            <a:avLst/>
          </a:prstGeom>
          <a:noFill/>
        </p:spPr>
        <p:txBody>
          <a:bodyPr wrap="square"/>
          <a:lstStyle/>
          <a:p>
            <a:pPr algn="l"/>
            <a:r>
              <a:rPr sz="1200" b="0" i="0">
                <a:solidFill>
                  <a:srgbClr val="FFFFFF"/>
                </a:solidFill>
                <a:latin typeface="Calibri"/>
              </a:rPr>
              <a:t>≥ 275 m (= 1.1 × Lmax)</a:t>
            </a:r>
          </a:p>
        </p:txBody>
      </p:sp>
      <p:sp>
        <p:nvSpPr>
          <p:cNvPr id="16" name="TextBox 15"/>
          <p:cNvSpPr txBox="1"/>
          <p:nvPr/>
        </p:nvSpPr>
        <p:spPr>
          <a:xfrm>
            <a:off x="6675120" y="3566160"/>
            <a:ext cx="2286000" cy="640080"/>
          </a:xfrm>
          <a:prstGeom prst="rect">
            <a:avLst/>
          </a:prstGeom>
          <a:noFill/>
        </p:spPr>
        <p:txBody>
          <a:bodyPr wrap="square"/>
          <a:lstStyle/>
          <a:p>
            <a:pPr algn="l"/>
            <a:r>
              <a:rPr sz="1200" b="1" i="0">
                <a:solidFill>
                  <a:srgbClr val="E8D090"/>
                </a:solidFill>
                <a:latin typeface="Calibri"/>
              </a:rPr>
              <a:t>Cargo Handling</a:t>
            </a:r>
          </a:p>
        </p:txBody>
      </p:sp>
      <p:sp>
        <p:nvSpPr>
          <p:cNvPr id="17" name="TextBox 16"/>
          <p:cNvSpPr txBox="1"/>
          <p:nvPr/>
        </p:nvSpPr>
        <p:spPr>
          <a:xfrm>
            <a:off x="8961120" y="3566160"/>
            <a:ext cx="2926080" cy="640080"/>
          </a:xfrm>
          <a:prstGeom prst="rect">
            <a:avLst/>
          </a:prstGeom>
          <a:noFill/>
        </p:spPr>
        <p:txBody>
          <a:bodyPr wrap="square"/>
          <a:lstStyle/>
          <a:p>
            <a:pPr algn="l"/>
            <a:r>
              <a:rPr sz="1200" b="0" i="0">
                <a:solidFill>
                  <a:srgbClr val="FFFFFF"/>
                </a:solidFill>
                <a:latin typeface="Calibri"/>
              </a:rPr>
              <a:t>Grab cranes / conveyor belts</a:t>
            </a:r>
          </a:p>
        </p:txBody>
      </p:sp>
      <p:sp>
        <p:nvSpPr>
          <p:cNvPr id="18" name="TextBox 17"/>
          <p:cNvSpPr txBox="1"/>
          <p:nvPr/>
        </p:nvSpPr>
        <p:spPr>
          <a:xfrm>
            <a:off x="6675120" y="4343400"/>
            <a:ext cx="2286000" cy="640080"/>
          </a:xfrm>
          <a:prstGeom prst="rect">
            <a:avLst/>
          </a:prstGeom>
          <a:noFill/>
        </p:spPr>
        <p:txBody>
          <a:bodyPr wrap="square"/>
          <a:lstStyle/>
          <a:p>
            <a:pPr algn="l"/>
            <a:r>
              <a:rPr sz="1200" b="1" i="0">
                <a:solidFill>
                  <a:srgbClr val="E8D090"/>
                </a:solidFill>
                <a:latin typeface="Calibri"/>
              </a:rPr>
              <a:t>Cargo Type</a:t>
            </a:r>
          </a:p>
        </p:txBody>
      </p:sp>
      <p:sp>
        <p:nvSpPr>
          <p:cNvPr id="19" name="TextBox 18"/>
          <p:cNvSpPr txBox="1"/>
          <p:nvPr/>
        </p:nvSpPr>
        <p:spPr>
          <a:xfrm>
            <a:off x="8961120" y="4343400"/>
            <a:ext cx="2926080" cy="640080"/>
          </a:xfrm>
          <a:prstGeom prst="rect">
            <a:avLst/>
          </a:prstGeom>
          <a:noFill/>
        </p:spPr>
        <p:txBody>
          <a:bodyPr wrap="square"/>
          <a:lstStyle/>
          <a:p>
            <a:pPr algn="l"/>
            <a:r>
              <a:rPr sz="1200" b="0" i="0">
                <a:solidFill>
                  <a:srgbClr val="FFFFFF"/>
                </a:solidFill>
                <a:latin typeface="Calibri"/>
              </a:rPr>
              <a:t>Grain, Minerals, Aggregates</a:t>
            </a:r>
          </a:p>
        </p:txBody>
      </p:sp>
      <p:sp>
        <p:nvSpPr>
          <p:cNvPr id="20" name="TextBox 19"/>
          <p:cNvSpPr txBox="1"/>
          <p:nvPr/>
        </p:nvSpPr>
        <p:spPr>
          <a:xfrm>
            <a:off x="6675120" y="5120640"/>
            <a:ext cx="2286000" cy="640080"/>
          </a:xfrm>
          <a:prstGeom prst="rect">
            <a:avLst/>
          </a:prstGeom>
          <a:noFill/>
        </p:spPr>
        <p:txBody>
          <a:bodyPr wrap="square"/>
          <a:lstStyle/>
          <a:p>
            <a:pPr algn="l"/>
            <a:r>
              <a:rPr sz="1200" b="1" i="0">
                <a:solidFill>
                  <a:srgbClr val="E8D090"/>
                </a:solidFill>
                <a:latin typeface="Calibri"/>
              </a:rPr>
              <a:t>Container Stacking</a:t>
            </a:r>
          </a:p>
        </p:txBody>
      </p:sp>
      <p:sp>
        <p:nvSpPr>
          <p:cNvPr id="21" name="TextBox 20"/>
          <p:cNvSpPr txBox="1"/>
          <p:nvPr/>
        </p:nvSpPr>
        <p:spPr>
          <a:xfrm>
            <a:off x="8961120" y="5120640"/>
            <a:ext cx="2926080" cy="640080"/>
          </a:xfrm>
          <a:prstGeom prst="rect">
            <a:avLst/>
          </a:prstGeom>
          <a:noFill/>
        </p:spPr>
        <p:txBody>
          <a:bodyPr wrap="square"/>
          <a:lstStyle/>
          <a:p>
            <a:pPr algn="l"/>
            <a:r>
              <a:rPr sz="1200" b="0" i="0">
                <a:solidFill>
                  <a:srgbClr val="FFFFFF"/>
                </a:solidFill>
                <a:latin typeface="Calibri"/>
              </a:rPr>
              <a:t>10 high-capacity blocks (Container Terminal)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Breakwater Design</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Rubble-Mound — Hudson Formula Armour Sizing</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57200" y="1691640"/>
            <a:ext cx="5486400" cy="292608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51760"/>
            <a:ext cx="5486400" cy="548640"/>
          </a:xfrm>
          <a:prstGeom prst="rect">
            <a:avLst/>
          </a:prstGeom>
          <a:noFill/>
        </p:spPr>
        <p:txBody>
          <a:bodyPr wrap="square"/>
          <a:lstStyle/>
          <a:p>
            <a:pPr algn="ctr"/>
            <a:r>
              <a:rPr sz="1200" b="0" i="0">
                <a:solidFill>
                  <a:srgbClr val="D1D9E6"/>
                </a:solidFill>
                <a:latin typeface="Calibri"/>
              </a:rPr>
              <a:t>[ BREAKWATER — Cross-Section Diagram ]
Armour Layer | Filter | Core</a:t>
            </a:r>
          </a:p>
        </p:txBody>
      </p:sp>
      <p:sp>
        <p:nvSpPr>
          <p:cNvPr id="12" name="Rectangle 11"/>
          <p:cNvSpPr/>
          <p:nvPr/>
        </p:nvSpPr>
        <p:spPr>
          <a:xfrm>
            <a:off x="457200" y="4754880"/>
            <a:ext cx="5486400" cy="137160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92040"/>
            <a:ext cx="5303520" cy="457200"/>
          </a:xfrm>
          <a:prstGeom prst="rect">
            <a:avLst/>
          </a:prstGeom>
          <a:noFill/>
        </p:spPr>
        <p:txBody>
          <a:bodyPr wrap="square"/>
          <a:lstStyle/>
          <a:p>
            <a:pPr algn="ctr"/>
            <a:r>
              <a:rPr sz="1500" b="1" i="0">
                <a:solidFill>
                  <a:srgbClr val="C9A84C"/>
                </a:solidFill>
                <a:latin typeface="Calibri"/>
              </a:rPr>
              <a:t>W₅₀ = ρs · Hs³ / [KD · (Sr−1)³ · cot(α)]</a:t>
            </a:r>
          </a:p>
        </p:txBody>
      </p:sp>
      <p:sp>
        <p:nvSpPr>
          <p:cNvPr id="14" name="TextBox 13"/>
          <p:cNvSpPr txBox="1"/>
          <p:nvPr/>
        </p:nvSpPr>
        <p:spPr>
          <a:xfrm>
            <a:off x="548640" y="5349240"/>
            <a:ext cx="5303520" cy="457200"/>
          </a:xfrm>
          <a:prstGeom prst="rect">
            <a:avLst/>
          </a:prstGeom>
          <a:noFill/>
        </p:spPr>
        <p:txBody>
          <a:bodyPr wrap="square"/>
          <a:lstStyle/>
          <a:p>
            <a:pPr algn="ctr"/>
            <a:r>
              <a:rPr sz="1200" b="0" i="0">
                <a:solidFill>
                  <a:srgbClr val="FFFFFF"/>
                </a:solidFill>
                <a:latin typeface="Calibri"/>
              </a:rPr>
              <a:t>= 2650 × 4.5³ / [4.0 × 1.585³ × 2.0] = 241,481 / 31.86 = 7,580 kg</a:t>
            </a:r>
          </a:p>
        </p:txBody>
      </p:sp>
      <p:sp>
        <p:nvSpPr>
          <p:cNvPr id="15" name="Rectangle 14"/>
          <p:cNvSpPr/>
          <p:nvPr/>
        </p:nvSpPr>
        <p:spPr>
          <a:xfrm>
            <a:off x="6217920" y="1737360"/>
            <a:ext cx="5669280" cy="4572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801368"/>
            <a:ext cx="2743200" cy="347472"/>
          </a:xfrm>
          <a:prstGeom prst="rect">
            <a:avLst/>
          </a:prstGeom>
          <a:noFill/>
        </p:spPr>
        <p:txBody>
          <a:bodyPr wrap="square"/>
          <a:lstStyle/>
          <a:p>
            <a:pPr algn="l"/>
            <a:r>
              <a:rPr sz="1100" b="1" i="0">
                <a:solidFill>
                  <a:srgbClr val="C9A84C"/>
                </a:solidFill>
                <a:latin typeface="Calibri"/>
              </a:rPr>
              <a:t>Parameter</a:t>
            </a:r>
          </a:p>
        </p:txBody>
      </p:sp>
      <p:sp>
        <p:nvSpPr>
          <p:cNvPr id="17" name="TextBox 16"/>
          <p:cNvSpPr txBox="1"/>
          <p:nvPr/>
        </p:nvSpPr>
        <p:spPr>
          <a:xfrm>
            <a:off x="9052560" y="1801368"/>
            <a:ext cx="2743200" cy="347472"/>
          </a:xfrm>
          <a:prstGeom prst="rect">
            <a:avLst/>
          </a:prstGeom>
          <a:noFill/>
        </p:spPr>
        <p:txBody>
          <a:bodyPr wrap="square"/>
          <a:lstStyle/>
          <a:p>
            <a:pPr algn="l"/>
            <a:r>
              <a:rPr sz="1200" b="0" i="0">
                <a:solidFill>
                  <a:srgbClr val="FFFFFF"/>
                </a:solidFill>
                <a:latin typeface="Calibri"/>
              </a:rPr>
              <a:t>Value</a:t>
            </a:r>
          </a:p>
        </p:txBody>
      </p:sp>
      <p:sp>
        <p:nvSpPr>
          <p:cNvPr id="18" name="Rectangle 17"/>
          <p:cNvSpPr/>
          <p:nvPr/>
        </p:nvSpPr>
        <p:spPr>
          <a:xfrm>
            <a:off x="6217920" y="2221992"/>
            <a:ext cx="5669280" cy="45720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286000"/>
            <a:ext cx="2743200" cy="347472"/>
          </a:xfrm>
          <a:prstGeom prst="rect">
            <a:avLst/>
          </a:prstGeom>
          <a:noFill/>
        </p:spPr>
        <p:txBody>
          <a:bodyPr wrap="square"/>
          <a:lstStyle/>
          <a:p>
            <a:pPr algn="l"/>
            <a:r>
              <a:rPr sz="1100" b="0" i="0">
                <a:solidFill>
                  <a:srgbClr val="E8D090"/>
                </a:solidFill>
                <a:latin typeface="Calibri"/>
              </a:rPr>
              <a:t>North Mole</a:t>
            </a:r>
          </a:p>
        </p:txBody>
      </p:sp>
      <p:sp>
        <p:nvSpPr>
          <p:cNvPr id="20" name="TextBox 19"/>
          <p:cNvSpPr txBox="1"/>
          <p:nvPr/>
        </p:nvSpPr>
        <p:spPr>
          <a:xfrm>
            <a:off x="9052560" y="2286000"/>
            <a:ext cx="2743200" cy="347472"/>
          </a:xfrm>
          <a:prstGeom prst="rect">
            <a:avLst/>
          </a:prstGeom>
          <a:noFill/>
        </p:spPr>
        <p:txBody>
          <a:bodyPr wrap="square"/>
          <a:lstStyle/>
          <a:p>
            <a:pPr algn="l"/>
            <a:r>
              <a:rPr sz="1200" b="0" i="0">
                <a:solidFill>
                  <a:srgbClr val="FFFFFF"/>
                </a:solidFill>
                <a:latin typeface="Calibri"/>
              </a:rPr>
              <a:t>1,450 m</a:t>
            </a:r>
          </a:p>
        </p:txBody>
      </p:sp>
      <p:sp>
        <p:nvSpPr>
          <p:cNvPr id="21" name="Rectangle 20"/>
          <p:cNvSpPr/>
          <p:nvPr/>
        </p:nvSpPr>
        <p:spPr>
          <a:xfrm>
            <a:off x="6217920" y="2706624"/>
            <a:ext cx="5669280" cy="4572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770632"/>
            <a:ext cx="2743200" cy="347472"/>
          </a:xfrm>
          <a:prstGeom prst="rect">
            <a:avLst/>
          </a:prstGeom>
          <a:noFill/>
        </p:spPr>
        <p:txBody>
          <a:bodyPr wrap="square"/>
          <a:lstStyle/>
          <a:p>
            <a:pPr algn="l"/>
            <a:r>
              <a:rPr sz="1100" b="0" i="0">
                <a:solidFill>
                  <a:srgbClr val="E8D090"/>
                </a:solidFill>
                <a:latin typeface="Calibri"/>
              </a:rPr>
              <a:t>South Mole</a:t>
            </a:r>
          </a:p>
        </p:txBody>
      </p:sp>
      <p:sp>
        <p:nvSpPr>
          <p:cNvPr id="23" name="TextBox 22"/>
          <p:cNvSpPr txBox="1"/>
          <p:nvPr/>
        </p:nvSpPr>
        <p:spPr>
          <a:xfrm>
            <a:off x="9052560" y="2770632"/>
            <a:ext cx="2743200" cy="347472"/>
          </a:xfrm>
          <a:prstGeom prst="rect">
            <a:avLst/>
          </a:prstGeom>
          <a:noFill/>
        </p:spPr>
        <p:txBody>
          <a:bodyPr wrap="square"/>
          <a:lstStyle/>
          <a:p>
            <a:pPr algn="l"/>
            <a:r>
              <a:rPr sz="1200" b="0" i="0">
                <a:solidFill>
                  <a:srgbClr val="FFFFFF"/>
                </a:solidFill>
                <a:latin typeface="Calibri"/>
              </a:rPr>
              <a:t>950 m</a:t>
            </a:r>
          </a:p>
        </p:txBody>
      </p:sp>
      <p:sp>
        <p:nvSpPr>
          <p:cNvPr id="24" name="Rectangle 23"/>
          <p:cNvSpPr/>
          <p:nvPr/>
        </p:nvSpPr>
        <p:spPr>
          <a:xfrm>
            <a:off x="6217920" y="3191256"/>
            <a:ext cx="5669280" cy="45720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255264"/>
            <a:ext cx="2743200" cy="347472"/>
          </a:xfrm>
          <a:prstGeom prst="rect">
            <a:avLst/>
          </a:prstGeom>
          <a:noFill/>
        </p:spPr>
        <p:txBody>
          <a:bodyPr wrap="square"/>
          <a:lstStyle/>
          <a:p>
            <a:pPr algn="l"/>
            <a:r>
              <a:rPr sz="1100" b="0" i="0">
                <a:solidFill>
                  <a:srgbClr val="E8D090"/>
                </a:solidFill>
                <a:latin typeface="Calibri"/>
              </a:rPr>
              <a:t>Entrance Gap</a:t>
            </a:r>
          </a:p>
        </p:txBody>
      </p:sp>
      <p:sp>
        <p:nvSpPr>
          <p:cNvPr id="26" name="TextBox 25"/>
          <p:cNvSpPr txBox="1"/>
          <p:nvPr/>
        </p:nvSpPr>
        <p:spPr>
          <a:xfrm>
            <a:off x="9052560" y="3255264"/>
            <a:ext cx="2743200" cy="347472"/>
          </a:xfrm>
          <a:prstGeom prst="rect">
            <a:avLst/>
          </a:prstGeom>
          <a:noFill/>
        </p:spPr>
        <p:txBody>
          <a:bodyPr wrap="square"/>
          <a:lstStyle/>
          <a:p>
            <a:pPr algn="l"/>
            <a:r>
              <a:rPr sz="1200" b="0" i="0">
                <a:solidFill>
                  <a:srgbClr val="FFFFFF"/>
                </a:solidFill>
                <a:latin typeface="Calibri"/>
              </a:rPr>
              <a:t>314 m ≥ 224 m ✓</a:t>
            </a:r>
          </a:p>
        </p:txBody>
      </p:sp>
      <p:sp>
        <p:nvSpPr>
          <p:cNvPr id="27" name="Rectangle 26"/>
          <p:cNvSpPr/>
          <p:nvPr/>
        </p:nvSpPr>
        <p:spPr>
          <a:xfrm>
            <a:off x="6217920" y="3675888"/>
            <a:ext cx="5669280" cy="4572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739896"/>
            <a:ext cx="2743200" cy="347472"/>
          </a:xfrm>
          <a:prstGeom prst="rect">
            <a:avLst/>
          </a:prstGeom>
          <a:noFill/>
        </p:spPr>
        <p:txBody>
          <a:bodyPr wrap="square"/>
          <a:lstStyle/>
          <a:p>
            <a:pPr algn="l"/>
            <a:r>
              <a:rPr sz="1100" b="0" i="0">
                <a:solidFill>
                  <a:srgbClr val="E8D090"/>
                </a:solidFill>
                <a:latin typeface="Calibri"/>
              </a:rPr>
              <a:t>Design Wave Hs</a:t>
            </a:r>
          </a:p>
        </p:txBody>
      </p:sp>
      <p:sp>
        <p:nvSpPr>
          <p:cNvPr id="29" name="TextBox 28"/>
          <p:cNvSpPr txBox="1"/>
          <p:nvPr/>
        </p:nvSpPr>
        <p:spPr>
          <a:xfrm>
            <a:off x="9052560" y="3739896"/>
            <a:ext cx="2743200" cy="347472"/>
          </a:xfrm>
          <a:prstGeom prst="rect">
            <a:avLst/>
          </a:prstGeom>
          <a:noFill/>
        </p:spPr>
        <p:txBody>
          <a:bodyPr wrap="square"/>
          <a:lstStyle/>
          <a:p>
            <a:pPr algn="l"/>
            <a:r>
              <a:rPr sz="1200" b="0" i="0">
                <a:solidFill>
                  <a:srgbClr val="FFFFFF"/>
                </a:solidFill>
                <a:latin typeface="Calibri"/>
              </a:rPr>
              <a:t>4.5 m</a:t>
            </a:r>
          </a:p>
        </p:txBody>
      </p:sp>
      <p:sp>
        <p:nvSpPr>
          <p:cNvPr id="30" name="Rectangle 29"/>
          <p:cNvSpPr/>
          <p:nvPr/>
        </p:nvSpPr>
        <p:spPr>
          <a:xfrm>
            <a:off x="6217920" y="4160520"/>
            <a:ext cx="5669280" cy="45720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4224528"/>
            <a:ext cx="2743200" cy="347472"/>
          </a:xfrm>
          <a:prstGeom prst="rect">
            <a:avLst/>
          </a:prstGeom>
          <a:noFill/>
        </p:spPr>
        <p:txBody>
          <a:bodyPr wrap="square"/>
          <a:lstStyle/>
          <a:p>
            <a:pPr algn="l"/>
            <a:r>
              <a:rPr sz="1100" b="0" i="0">
                <a:solidFill>
                  <a:srgbClr val="E8D090"/>
                </a:solidFill>
                <a:latin typeface="Calibri"/>
              </a:rPr>
              <a:t>Rock Density ρs</a:t>
            </a:r>
          </a:p>
        </p:txBody>
      </p:sp>
      <p:sp>
        <p:nvSpPr>
          <p:cNvPr id="32" name="TextBox 31"/>
          <p:cNvSpPr txBox="1"/>
          <p:nvPr/>
        </p:nvSpPr>
        <p:spPr>
          <a:xfrm>
            <a:off x="9052560" y="4224528"/>
            <a:ext cx="2743200" cy="347472"/>
          </a:xfrm>
          <a:prstGeom prst="rect">
            <a:avLst/>
          </a:prstGeom>
          <a:noFill/>
        </p:spPr>
        <p:txBody>
          <a:bodyPr wrap="square"/>
          <a:lstStyle/>
          <a:p>
            <a:pPr algn="l"/>
            <a:r>
              <a:rPr sz="1200" b="0" i="0">
                <a:solidFill>
                  <a:srgbClr val="FFFFFF"/>
                </a:solidFill>
                <a:latin typeface="Calibri"/>
              </a:rPr>
              <a:t>2,650 kg/m³</a:t>
            </a:r>
          </a:p>
        </p:txBody>
      </p:sp>
      <p:sp>
        <p:nvSpPr>
          <p:cNvPr id="33" name="Rectangle 32"/>
          <p:cNvSpPr/>
          <p:nvPr/>
        </p:nvSpPr>
        <p:spPr>
          <a:xfrm>
            <a:off x="6217920" y="4645152"/>
            <a:ext cx="5669280" cy="4572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709160"/>
            <a:ext cx="2743200" cy="347472"/>
          </a:xfrm>
          <a:prstGeom prst="rect">
            <a:avLst/>
          </a:prstGeom>
          <a:noFill/>
        </p:spPr>
        <p:txBody>
          <a:bodyPr wrap="square"/>
          <a:lstStyle/>
          <a:p>
            <a:pPr algn="l"/>
            <a:r>
              <a:rPr sz="1100" b="0" i="0">
                <a:solidFill>
                  <a:srgbClr val="E8D090"/>
                </a:solidFill>
                <a:latin typeface="Calibri"/>
              </a:rPr>
              <a:t>Stability Coeff. KD</a:t>
            </a:r>
          </a:p>
        </p:txBody>
      </p:sp>
      <p:sp>
        <p:nvSpPr>
          <p:cNvPr id="35" name="TextBox 34"/>
          <p:cNvSpPr txBox="1"/>
          <p:nvPr/>
        </p:nvSpPr>
        <p:spPr>
          <a:xfrm>
            <a:off x="9052560" y="4709160"/>
            <a:ext cx="2743200" cy="347472"/>
          </a:xfrm>
          <a:prstGeom prst="rect">
            <a:avLst/>
          </a:prstGeom>
          <a:noFill/>
        </p:spPr>
        <p:txBody>
          <a:bodyPr wrap="square"/>
          <a:lstStyle/>
          <a:p>
            <a:pPr algn="l"/>
            <a:r>
              <a:rPr sz="1200" b="0" i="0">
                <a:solidFill>
                  <a:srgbClr val="FFFFFF"/>
                </a:solidFill>
                <a:latin typeface="Calibri"/>
              </a:rPr>
              <a:t>4.0</a:t>
            </a:r>
          </a:p>
        </p:txBody>
      </p:sp>
      <p:sp>
        <p:nvSpPr>
          <p:cNvPr id="36" name="Rectangle 35"/>
          <p:cNvSpPr/>
          <p:nvPr/>
        </p:nvSpPr>
        <p:spPr>
          <a:xfrm>
            <a:off x="6217920" y="5129784"/>
            <a:ext cx="5669280" cy="45720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5193792"/>
            <a:ext cx="2743200" cy="347472"/>
          </a:xfrm>
          <a:prstGeom prst="rect">
            <a:avLst/>
          </a:prstGeom>
          <a:noFill/>
        </p:spPr>
        <p:txBody>
          <a:bodyPr wrap="square"/>
          <a:lstStyle/>
          <a:p>
            <a:pPr algn="l"/>
            <a:r>
              <a:rPr sz="1100" b="0" i="0">
                <a:solidFill>
                  <a:srgbClr val="E8D090"/>
                </a:solidFill>
                <a:latin typeface="Calibri"/>
              </a:rPr>
              <a:t>Slope cot(α)</a:t>
            </a:r>
          </a:p>
        </p:txBody>
      </p:sp>
      <p:sp>
        <p:nvSpPr>
          <p:cNvPr id="38" name="TextBox 37"/>
          <p:cNvSpPr txBox="1"/>
          <p:nvPr/>
        </p:nvSpPr>
        <p:spPr>
          <a:xfrm>
            <a:off x="9052560" y="5193792"/>
            <a:ext cx="2743200" cy="347472"/>
          </a:xfrm>
          <a:prstGeom prst="rect">
            <a:avLst/>
          </a:prstGeom>
          <a:noFill/>
        </p:spPr>
        <p:txBody>
          <a:bodyPr wrap="square"/>
          <a:lstStyle/>
          <a:p>
            <a:pPr algn="l"/>
            <a:r>
              <a:rPr sz="1200" b="0" i="0">
                <a:solidFill>
                  <a:srgbClr val="FFFFFF"/>
                </a:solidFill>
                <a:latin typeface="Calibri"/>
              </a:rPr>
              <a:t>2.0 (1V:2H)</a:t>
            </a:r>
          </a:p>
        </p:txBody>
      </p:sp>
      <p:sp>
        <p:nvSpPr>
          <p:cNvPr id="39" name="Rectangle 38"/>
          <p:cNvSpPr/>
          <p:nvPr/>
        </p:nvSpPr>
        <p:spPr>
          <a:xfrm>
            <a:off x="6217920" y="5614416"/>
            <a:ext cx="5669280" cy="457200"/>
          </a:xfrm>
          <a:prstGeom prst="rect">
            <a:avLst/>
          </a:prstGeom>
          <a:solidFill>
            <a:srgbClr val="0A3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5678424"/>
            <a:ext cx="2743200" cy="347472"/>
          </a:xfrm>
          <a:prstGeom prst="rect">
            <a:avLst/>
          </a:prstGeom>
          <a:noFill/>
        </p:spPr>
        <p:txBody>
          <a:bodyPr wrap="square"/>
          <a:lstStyle/>
          <a:p>
            <a:pPr algn="l"/>
            <a:r>
              <a:rPr sz="1100" b="0" i="0">
                <a:solidFill>
                  <a:srgbClr val="E8D090"/>
                </a:solidFill>
                <a:latin typeface="Calibri"/>
              </a:rPr>
              <a:t>Armour W₅₀</a:t>
            </a:r>
          </a:p>
        </p:txBody>
      </p:sp>
      <p:sp>
        <p:nvSpPr>
          <p:cNvPr id="41" name="TextBox 40"/>
          <p:cNvSpPr txBox="1"/>
          <p:nvPr/>
        </p:nvSpPr>
        <p:spPr>
          <a:xfrm>
            <a:off x="9052560" y="5678424"/>
            <a:ext cx="2743200" cy="347472"/>
          </a:xfrm>
          <a:prstGeom prst="rect">
            <a:avLst/>
          </a:prstGeom>
          <a:noFill/>
        </p:spPr>
        <p:txBody>
          <a:bodyPr wrap="square"/>
          <a:lstStyle/>
          <a:p>
            <a:pPr algn="l"/>
            <a:r>
              <a:rPr sz="1200" b="1" i="0">
                <a:solidFill>
                  <a:srgbClr val="C9A84C"/>
                </a:solidFill>
                <a:latin typeface="Calibri"/>
              </a:rPr>
              <a:t>7.6 t  ←  RESULT</a:t>
            </a:r>
          </a:p>
        </p:txBody>
      </p:sp>
      <p:sp>
        <p:nvSpPr>
          <p:cNvPr id="42" name="Rectangle 41"/>
          <p:cNvSpPr/>
          <p:nvPr/>
        </p:nvSpPr>
        <p:spPr>
          <a:xfrm>
            <a:off x="6217920" y="6099048"/>
            <a:ext cx="5669280" cy="457200"/>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6163056"/>
            <a:ext cx="2743200" cy="347472"/>
          </a:xfrm>
          <a:prstGeom prst="rect">
            <a:avLst/>
          </a:prstGeom>
          <a:noFill/>
        </p:spPr>
        <p:txBody>
          <a:bodyPr wrap="square"/>
          <a:lstStyle/>
          <a:p>
            <a:pPr algn="l"/>
            <a:r>
              <a:rPr sz="1100" b="0" i="0">
                <a:solidFill>
                  <a:srgbClr val="E8D090"/>
                </a:solidFill>
                <a:latin typeface="Calibri"/>
              </a:rPr>
              <a:t>Crest Level</a:t>
            </a:r>
          </a:p>
        </p:txBody>
      </p:sp>
      <p:sp>
        <p:nvSpPr>
          <p:cNvPr id="44" name="TextBox 43"/>
          <p:cNvSpPr txBox="1"/>
          <p:nvPr/>
        </p:nvSpPr>
        <p:spPr>
          <a:xfrm>
            <a:off x="9052560" y="6163056"/>
            <a:ext cx="2743200" cy="347472"/>
          </a:xfrm>
          <a:prstGeom prst="rect">
            <a:avLst/>
          </a:prstGeom>
          <a:noFill/>
        </p:spPr>
        <p:txBody>
          <a:bodyPr wrap="square"/>
          <a:lstStyle/>
          <a:p>
            <a:pPr algn="l"/>
            <a:r>
              <a:rPr sz="1200" b="0" i="0">
                <a:solidFill>
                  <a:srgbClr val="FFFFFF"/>
                </a:solidFill>
                <a:latin typeface="Calibri"/>
              </a:rPr>
              <a:t>+7.0 m CD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Engineering Calculations</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All Principal Results — PIANC · Hudson · NFPA 30</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365760" y="1691640"/>
            <a:ext cx="11430000" cy="484632"/>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755648"/>
            <a:ext cx="502920" cy="384048"/>
          </a:xfrm>
          <a:prstGeom prst="rect">
            <a:avLst/>
          </a:prstGeom>
          <a:noFill/>
        </p:spPr>
        <p:txBody>
          <a:bodyPr wrap="square"/>
          <a:lstStyle/>
          <a:p>
            <a:pPr algn="l"/>
            <a:r>
              <a:rPr sz="1000" b="1" i="0">
                <a:solidFill>
                  <a:srgbClr val="C9A84C"/>
                </a:solidFill>
                <a:latin typeface="Calibri"/>
              </a:rPr>
              <a:t>CALC</a:t>
            </a:r>
          </a:p>
        </p:txBody>
      </p:sp>
      <p:sp>
        <p:nvSpPr>
          <p:cNvPr id="12" name="TextBox 11"/>
          <p:cNvSpPr txBox="1"/>
          <p:nvPr/>
        </p:nvSpPr>
        <p:spPr>
          <a:xfrm>
            <a:off x="1051560" y="1755648"/>
            <a:ext cx="2651760" cy="384048"/>
          </a:xfrm>
          <a:prstGeom prst="rect">
            <a:avLst/>
          </a:prstGeom>
          <a:noFill/>
        </p:spPr>
        <p:txBody>
          <a:bodyPr wrap="square"/>
          <a:lstStyle/>
          <a:p>
            <a:pPr algn="l"/>
            <a:r>
              <a:rPr sz="1000" b="1" i="0">
                <a:solidFill>
                  <a:srgbClr val="C9A84C"/>
                </a:solidFill>
                <a:latin typeface="Calibri"/>
              </a:rPr>
              <a:t>Parameter</a:t>
            </a:r>
          </a:p>
        </p:txBody>
      </p:sp>
      <p:sp>
        <p:nvSpPr>
          <p:cNvPr id="13" name="TextBox 12"/>
          <p:cNvSpPr txBox="1"/>
          <p:nvPr/>
        </p:nvSpPr>
        <p:spPr>
          <a:xfrm>
            <a:off x="3886200" y="1755648"/>
            <a:ext cx="3383280" cy="384048"/>
          </a:xfrm>
          <a:prstGeom prst="rect">
            <a:avLst/>
          </a:prstGeom>
          <a:noFill/>
        </p:spPr>
        <p:txBody>
          <a:bodyPr wrap="square"/>
          <a:lstStyle/>
          <a:p>
            <a:pPr algn="l"/>
            <a:r>
              <a:rPr sz="1000" b="1" i="0">
                <a:solidFill>
                  <a:srgbClr val="C9A84C"/>
                </a:solidFill>
                <a:latin typeface="Calibri"/>
              </a:rPr>
              <a:t>Result</a:t>
            </a:r>
          </a:p>
        </p:txBody>
      </p:sp>
      <p:sp>
        <p:nvSpPr>
          <p:cNvPr id="14" name="TextBox 13"/>
          <p:cNvSpPr txBox="1"/>
          <p:nvPr/>
        </p:nvSpPr>
        <p:spPr>
          <a:xfrm>
            <a:off x="7452360" y="1755648"/>
            <a:ext cx="2377440" cy="384048"/>
          </a:xfrm>
          <a:prstGeom prst="rect">
            <a:avLst/>
          </a:prstGeom>
          <a:noFill/>
        </p:spPr>
        <p:txBody>
          <a:bodyPr wrap="square"/>
          <a:lstStyle/>
          <a:p>
            <a:pPr algn="l"/>
            <a:r>
              <a:rPr sz="1000" b="1" i="0">
                <a:solidFill>
                  <a:srgbClr val="C9A84C"/>
                </a:solidFill>
                <a:latin typeface="Calibri"/>
              </a:rPr>
              <a:t>Standard</a:t>
            </a:r>
          </a:p>
        </p:txBody>
      </p:sp>
      <p:sp>
        <p:nvSpPr>
          <p:cNvPr id="15" name="TextBox 14"/>
          <p:cNvSpPr txBox="1"/>
          <p:nvPr/>
        </p:nvSpPr>
        <p:spPr>
          <a:xfrm>
            <a:off x="10012680" y="1755648"/>
            <a:ext cx="1737360" cy="384048"/>
          </a:xfrm>
          <a:prstGeom prst="rect">
            <a:avLst/>
          </a:prstGeom>
          <a:noFill/>
        </p:spPr>
        <p:txBody>
          <a:bodyPr wrap="square"/>
          <a:lstStyle/>
          <a:p>
            <a:pPr algn="l"/>
            <a:r>
              <a:rPr sz="1000" b="1" i="0">
                <a:solidFill>
                  <a:srgbClr val="C9A84C"/>
                </a:solidFill>
                <a:latin typeface="Calibri"/>
              </a:rPr>
              <a:t>Status</a:t>
            </a:r>
          </a:p>
        </p:txBody>
      </p:sp>
      <p:sp>
        <p:nvSpPr>
          <p:cNvPr id="16" name="Rectangle 15"/>
          <p:cNvSpPr/>
          <p:nvPr/>
        </p:nvSpPr>
        <p:spPr>
          <a:xfrm>
            <a:off x="365760" y="2203704"/>
            <a:ext cx="11430000" cy="48463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267712"/>
            <a:ext cx="502920" cy="384048"/>
          </a:xfrm>
          <a:prstGeom prst="rect">
            <a:avLst/>
          </a:prstGeom>
          <a:noFill/>
        </p:spPr>
        <p:txBody>
          <a:bodyPr wrap="square"/>
          <a:lstStyle/>
          <a:p>
            <a:pPr algn="l"/>
            <a:r>
              <a:rPr sz="1100" b="0" i="0">
                <a:solidFill>
                  <a:srgbClr val="FFFFFF"/>
                </a:solidFill>
                <a:latin typeface="Calibri"/>
              </a:rPr>
              <a:t>01</a:t>
            </a:r>
          </a:p>
        </p:txBody>
      </p:sp>
      <p:sp>
        <p:nvSpPr>
          <p:cNvPr id="18" name="TextBox 17"/>
          <p:cNvSpPr txBox="1"/>
          <p:nvPr/>
        </p:nvSpPr>
        <p:spPr>
          <a:xfrm>
            <a:off x="1051560" y="2267712"/>
            <a:ext cx="2651760" cy="384048"/>
          </a:xfrm>
          <a:prstGeom prst="rect">
            <a:avLst/>
          </a:prstGeom>
          <a:noFill/>
        </p:spPr>
        <p:txBody>
          <a:bodyPr wrap="square"/>
          <a:lstStyle/>
          <a:p>
            <a:pPr algn="l"/>
            <a:r>
              <a:rPr sz="1100" b="0" i="0">
                <a:solidFill>
                  <a:srgbClr val="FFFFFF"/>
                </a:solidFill>
                <a:latin typeface="Calibri"/>
              </a:rPr>
              <a:t>Design Vessel (Lmax×bmax×dmax)</a:t>
            </a:r>
          </a:p>
        </p:txBody>
      </p:sp>
      <p:sp>
        <p:nvSpPr>
          <p:cNvPr id="19" name="TextBox 18"/>
          <p:cNvSpPr txBox="1"/>
          <p:nvPr/>
        </p:nvSpPr>
        <p:spPr>
          <a:xfrm>
            <a:off x="3886200" y="2267712"/>
            <a:ext cx="3383280" cy="384048"/>
          </a:xfrm>
          <a:prstGeom prst="rect">
            <a:avLst/>
          </a:prstGeom>
          <a:noFill/>
        </p:spPr>
        <p:txBody>
          <a:bodyPr wrap="square"/>
          <a:lstStyle/>
          <a:p>
            <a:pPr algn="l"/>
            <a:r>
              <a:rPr sz="1100" b="1" i="0">
                <a:solidFill>
                  <a:srgbClr val="C9A84C"/>
                </a:solidFill>
                <a:latin typeface="Calibri"/>
              </a:rPr>
              <a:t>250m × 32m × 12m</a:t>
            </a:r>
          </a:p>
        </p:txBody>
      </p:sp>
      <p:sp>
        <p:nvSpPr>
          <p:cNvPr id="20" name="TextBox 19"/>
          <p:cNvSpPr txBox="1"/>
          <p:nvPr/>
        </p:nvSpPr>
        <p:spPr>
          <a:xfrm>
            <a:off x="7452360" y="2267712"/>
            <a:ext cx="2377440" cy="384048"/>
          </a:xfrm>
          <a:prstGeom prst="rect">
            <a:avLst/>
          </a:prstGeom>
          <a:noFill/>
        </p:spPr>
        <p:txBody>
          <a:bodyPr wrap="square"/>
          <a:lstStyle/>
          <a:p>
            <a:pPr algn="l"/>
            <a:r>
              <a:rPr sz="1100" b="0" i="0">
                <a:solidFill>
                  <a:srgbClr val="FFFFFF"/>
                </a:solidFill>
                <a:latin typeface="Calibri"/>
              </a:rPr>
              <a:t>Panamax Class</a:t>
            </a:r>
          </a:p>
        </p:txBody>
      </p:sp>
      <p:sp>
        <p:nvSpPr>
          <p:cNvPr id="21" name="TextBox 20"/>
          <p:cNvSpPr txBox="1"/>
          <p:nvPr/>
        </p:nvSpPr>
        <p:spPr>
          <a:xfrm>
            <a:off x="10012680" y="2267712"/>
            <a:ext cx="1737360" cy="384048"/>
          </a:xfrm>
          <a:prstGeom prst="rect">
            <a:avLst/>
          </a:prstGeom>
          <a:noFill/>
        </p:spPr>
        <p:txBody>
          <a:bodyPr wrap="square"/>
          <a:lstStyle/>
          <a:p>
            <a:pPr algn="l"/>
            <a:r>
              <a:rPr sz="1100" b="0" i="0">
                <a:solidFill>
                  <a:srgbClr val="C9A84C"/>
                </a:solidFill>
                <a:latin typeface="Calibri"/>
              </a:rPr>
              <a:t>—</a:t>
            </a:r>
          </a:p>
        </p:txBody>
      </p:sp>
      <p:sp>
        <p:nvSpPr>
          <p:cNvPr id="22" name="Rectangle 21"/>
          <p:cNvSpPr/>
          <p:nvPr/>
        </p:nvSpPr>
        <p:spPr>
          <a:xfrm>
            <a:off x="365760" y="2715768"/>
            <a:ext cx="11430000" cy="484632"/>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779776"/>
            <a:ext cx="502920" cy="384048"/>
          </a:xfrm>
          <a:prstGeom prst="rect">
            <a:avLst/>
          </a:prstGeom>
          <a:noFill/>
        </p:spPr>
        <p:txBody>
          <a:bodyPr wrap="square"/>
          <a:lstStyle/>
          <a:p>
            <a:pPr algn="l"/>
            <a:r>
              <a:rPr sz="1100" b="0" i="0">
                <a:solidFill>
                  <a:srgbClr val="FFFFFF"/>
                </a:solidFill>
                <a:latin typeface="Calibri"/>
              </a:rPr>
              <a:t>02</a:t>
            </a:r>
          </a:p>
        </p:txBody>
      </p:sp>
      <p:sp>
        <p:nvSpPr>
          <p:cNvPr id="24" name="TextBox 23"/>
          <p:cNvSpPr txBox="1"/>
          <p:nvPr/>
        </p:nvSpPr>
        <p:spPr>
          <a:xfrm>
            <a:off x="1051560" y="2779776"/>
            <a:ext cx="2651760" cy="384048"/>
          </a:xfrm>
          <a:prstGeom prst="rect">
            <a:avLst/>
          </a:prstGeom>
          <a:noFill/>
        </p:spPr>
        <p:txBody>
          <a:bodyPr wrap="square"/>
          <a:lstStyle/>
          <a:p>
            <a:pPr algn="l"/>
            <a:r>
              <a:rPr sz="1100" b="0" i="0">
                <a:solidFill>
                  <a:srgbClr val="FFFFFF"/>
                </a:solidFill>
                <a:latin typeface="Calibri"/>
              </a:rPr>
              <a:t>Dredged Channel Depth</a:t>
            </a:r>
          </a:p>
        </p:txBody>
      </p:sp>
      <p:sp>
        <p:nvSpPr>
          <p:cNvPr id="25" name="TextBox 24"/>
          <p:cNvSpPr txBox="1"/>
          <p:nvPr/>
        </p:nvSpPr>
        <p:spPr>
          <a:xfrm>
            <a:off x="3886200" y="2779776"/>
            <a:ext cx="3383280" cy="384048"/>
          </a:xfrm>
          <a:prstGeom prst="rect">
            <a:avLst/>
          </a:prstGeom>
          <a:noFill/>
        </p:spPr>
        <p:txBody>
          <a:bodyPr wrap="square"/>
          <a:lstStyle/>
          <a:p>
            <a:pPr algn="l"/>
            <a:r>
              <a:rPr sz="1100" b="1" i="0">
                <a:solidFill>
                  <a:srgbClr val="C9A84C"/>
                </a:solidFill>
                <a:latin typeface="Calibri"/>
              </a:rPr>
              <a:t>−13.4 m CD</a:t>
            </a:r>
          </a:p>
        </p:txBody>
      </p:sp>
      <p:sp>
        <p:nvSpPr>
          <p:cNvPr id="26" name="TextBox 25"/>
          <p:cNvSpPr txBox="1"/>
          <p:nvPr/>
        </p:nvSpPr>
        <p:spPr>
          <a:xfrm>
            <a:off x="7452360" y="2779776"/>
            <a:ext cx="2377440" cy="384048"/>
          </a:xfrm>
          <a:prstGeom prst="rect">
            <a:avLst/>
          </a:prstGeom>
          <a:noFill/>
        </p:spPr>
        <p:txBody>
          <a:bodyPr wrap="square"/>
          <a:lstStyle/>
          <a:p>
            <a:pPr algn="l"/>
            <a:r>
              <a:rPr sz="1100" b="0" i="0">
                <a:solidFill>
                  <a:srgbClr val="FFFFFF"/>
                </a:solidFill>
                <a:latin typeface="Calibri"/>
              </a:rPr>
              <a:t>PIANC UKC Method</a:t>
            </a:r>
          </a:p>
        </p:txBody>
      </p:sp>
      <p:sp>
        <p:nvSpPr>
          <p:cNvPr id="27" name="TextBox 26"/>
          <p:cNvSpPr txBox="1"/>
          <p:nvPr/>
        </p:nvSpPr>
        <p:spPr>
          <a:xfrm>
            <a:off x="10012680" y="2779776"/>
            <a:ext cx="1737360" cy="384048"/>
          </a:xfrm>
          <a:prstGeom prst="rect">
            <a:avLst/>
          </a:prstGeom>
          <a:noFill/>
        </p:spPr>
        <p:txBody>
          <a:bodyPr wrap="square"/>
          <a:lstStyle/>
          <a:p>
            <a:pPr algn="l"/>
            <a:r>
              <a:rPr sz="1100" b="0" i="0">
                <a:solidFill>
                  <a:srgbClr val="4ADE80"/>
                </a:solidFill>
                <a:latin typeface="Calibri"/>
              </a:rPr>
              <a:t>PASS ✓</a:t>
            </a:r>
          </a:p>
        </p:txBody>
      </p:sp>
      <p:sp>
        <p:nvSpPr>
          <p:cNvPr id="28" name="Rectangle 27"/>
          <p:cNvSpPr/>
          <p:nvPr/>
        </p:nvSpPr>
        <p:spPr>
          <a:xfrm>
            <a:off x="365760" y="3227832"/>
            <a:ext cx="11430000" cy="48463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291840"/>
            <a:ext cx="502920" cy="384048"/>
          </a:xfrm>
          <a:prstGeom prst="rect">
            <a:avLst/>
          </a:prstGeom>
          <a:noFill/>
        </p:spPr>
        <p:txBody>
          <a:bodyPr wrap="square"/>
          <a:lstStyle/>
          <a:p>
            <a:pPr algn="l"/>
            <a:r>
              <a:rPr sz="1100" b="0" i="0">
                <a:solidFill>
                  <a:srgbClr val="FFFFFF"/>
                </a:solidFill>
                <a:latin typeface="Calibri"/>
              </a:rPr>
              <a:t>03</a:t>
            </a:r>
          </a:p>
        </p:txBody>
      </p:sp>
      <p:sp>
        <p:nvSpPr>
          <p:cNvPr id="30" name="TextBox 29"/>
          <p:cNvSpPr txBox="1"/>
          <p:nvPr/>
        </p:nvSpPr>
        <p:spPr>
          <a:xfrm>
            <a:off x="1051560" y="3291840"/>
            <a:ext cx="2651760" cy="384048"/>
          </a:xfrm>
          <a:prstGeom prst="rect">
            <a:avLst/>
          </a:prstGeom>
          <a:noFill/>
        </p:spPr>
        <p:txBody>
          <a:bodyPr wrap="square"/>
          <a:lstStyle/>
          <a:p>
            <a:pPr algn="l"/>
            <a:r>
              <a:rPr sz="1100" b="0" i="0">
                <a:solidFill>
                  <a:srgbClr val="FFFFFF"/>
                </a:solidFill>
                <a:latin typeface="Calibri"/>
              </a:rPr>
              <a:t>Channel Width</a:t>
            </a:r>
          </a:p>
        </p:txBody>
      </p:sp>
      <p:sp>
        <p:nvSpPr>
          <p:cNvPr id="31" name="TextBox 30"/>
          <p:cNvSpPr txBox="1"/>
          <p:nvPr/>
        </p:nvSpPr>
        <p:spPr>
          <a:xfrm>
            <a:off x="3886200" y="3291840"/>
            <a:ext cx="3383280" cy="384048"/>
          </a:xfrm>
          <a:prstGeom prst="rect">
            <a:avLst/>
          </a:prstGeom>
          <a:noFill/>
        </p:spPr>
        <p:txBody>
          <a:bodyPr wrap="square"/>
          <a:lstStyle/>
          <a:p>
            <a:pPr algn="l"/>
            <a:r>
              <a:rPr sz="1100" b="1" i="0">
                <a:solidFill>
                  <a:srgbClr val="C9A84C"/>
                </a:solidFill>
                <a:latin typeface="Calibri"/>
              </a:rPr>
              <a:t>224 m (7.0 × bmax)</a:t>
            </a:r>
          </a:p>
        </p:txBody>
      </p:sp>
      <p:sp>
        <p:nvSpPr>
          <p:cNvPr id="32" name="TextBox 31"/>
          <p:cNvSpPr txBox="1"/>
          <p:nvPr/>
        </p:nvSpPr>
        <p:spPr>
          <a:xfrm>
            <a:off x="7452360" y="3291840"/>
            <a:ext cx="2377440" cy="384048"/>
          </a:xfrm>
          <a:prstGeom prst="rect">
            <a:avLst/>
          </a:prstGeom>
          <a:noFill/>
        </p:spPr>
        <p:txBody>
          <a:bodyPr wrap="square"/>
          <a:lstStyle/>
          <a:p>
            <a:pPr algn="l"/>
            <a:r>
              <a:rPr sz="1100" b="0" i="0">
                <a:solidFill>
                  <a:srgbClr val="FFFFFF"/>
                </a:solidFill>
                <a:latin typeface="Calibri"/>
              </a:rPr>
              <a:t>PIANC 2014 §3.4</a:t>
            </a:r>
          </a:p>
        </p:txBody>
      </p:sp>
      <p:sp>
        <p:nvSpPr>
          <p:cNvPr id="33" name="TextBox 32"/>
          <p:cNvSpPr txBox="1"/>
          <p:nvPr/>
        </p:nvSpPr>
        <p:spPr>
          <a:xfrm>
            <a:off x="10012680" y="3291840"/>
            <a:ext cx="1737360" cy="384048"/>
          </a:xfrm>
          <a:prstGeom prst="rect">
            <a:avLst/>
          </a:prstGeom>
          <a:noFill/>
        </p:spPr>
        <p:txBody>
          <a:bodyPr wrap="square"/>
          <a:lstStyle/>
          <a:p>
            <a:pPr algn="l"/>
            <a:r>
              <a:rPr sz="1100" b="0" i="0">
                <a:solidFill>
                  <a:srgbClr val="4ADE80"/>
                </a:solidFill>
                <a:latin typeface="Calibri"/>
              </a:rPr>
              <a:t>PASS ✓</a:t>
            </a:r>
          </a:p>
        </p:txBody>
      </p:sp>
      <p:sp>
        <p:nvSpPr>
          <p:cNvPr id="34" name="Rectangle 33"/>
          <p:cNvSpPr/>
          <p:nvPr/>
        </p:nvSpPr>
        <p:spPr>
          <a:xfrm>
            <a:off x="365760" y="3739896"/>
            <a:ext cx="11430000" cy="484632"/>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03904"/>
            <a:ext cx="502920" cy="384048"/>
          </a:xfrm>
          <a:prstGeom prst="rect">
            <a:avLst/>
          </a:prstGeom>
          <a:noFill/>
        </p:spPr>
        <p:txBody>
          <a:bodyPr wrap="square"/>
          <a:lstStyle/>
          <a:p>
            <a:pPr algn="l"/>
            <a:r>
              <a:rPr sz="1100" b="0" i="0">
                <a:solidFill>
                  <a:srgbClr val="FFFFFF"/>
                </a:solidFill>
                <a:latin typeface="Calibri"/>
              </a:rPr>
              <a:t>04</a:t>
            </a:r>
          </a:p>
        </p:txBody>
      </p:sp>
      <p:sp>
        <p:nvSpPr>
          <p:cNvPr id="36" name="TextBox 35"/>
          <p:cNvSpPr txBox="1"/>
          <p:nvPr/>
        </p:nvSpPr>
        <p:spPr>
          <a:xfrm>
            <a:off x="1051560" y="3803904"/>
            <a:ext cx="2651760" cy="384048"/>
          </a:xfrm>
          <a:prstGeom prst="rect">
            <a:avLst/>
          </a:prstGeom>
          <a:noFill/>
        </p:spPr>
        <p:txBody>
          <a:bodyPr wrap="square"/>
          <a:lstStyle/>
          <a:p>
            <a:pPr algn="l"/>
            <a:r>
              <a:rPr sz="1100" b="0" i="0">
                <a:solidFill>
                  <a:srgbClr val="FFFFFF"/>
                </a:solidFill>
                <a:latin typeface="Calibri"/>
              </a:rPr>
              <a:t>Turning Basin Diameter</a:t>
            </a:r>
          </a:p>
        </p:txBody>
      </p:sp>
      <p:sp>
        <p:nvSpPr>
          <p:cNvPr id="37" name="TextBox 36"/>
          <p:cNvSpPr txBox="1"/>
          <p:nvPr/>
        </p:nvSpPr>
        <p:spPr>
          <a:xfrm>
            <a:off x="3886200" y="3803904"/>
            <a:ext cx="3383280" cy="384048"/>
          </a:xfrm>
          <a:prstGeom prst="rect">
            <a:avLst/>
          </a:prstGeom>
          <a:noFill/>
        </p:spPr>
        <p:txBody>
          <a:bodyPr wrap="square"/>
          <a:lstStyle/>
          <a:p>
            <a:pPr algn="l"/>
            <a:r>
              <a:rPr sz="1100" b="1" i="0">
                <a:solidFill>
                  <a:srgbClr val="C9A84C"/>
                </a:solidFill>
                <a:latin typeface="Calibri"/>
              </a:rPr>
              <a:t>375 m (1.5 × Lmax)</a:t>
            </a:r>
          </a:p>
        </p:txBody>
      </p:sp>
      <p:sp>
        <p:nvSpPr>
          <p:cNvPr id="38" name="TextBox 37"/>
          <p:cNvSpPr txBox="1"/>
          <p:nvPr/>
        </p:nvSpPr>
        <p:spPr>
          <a:xfrm>
            <a:off x="7452360" y="3803904"/>
            <a:ext cx="2377440" cy="384048"/>
          </a:xfrm>
          <a:prstGeom prst="rect">
            <a:avLst/>
          </a:prstGeom>
          <a:noFill/>
        </p:spPr>
        <p:txBody>
          <a:bodyPr wrap="square"/>
          <a:lstStyle/>
          <a:p>
            <a:pPr algn="l"/>
            <a:r>
              <a:rPr sz="1100" b="0" i="0">
                <a:solidFill>
                  <a:srgbClr val="FFFFFF"/>
                </a:solidFill>
                <a:latin typeface="Calibri"/>
              </a:rPr>
              <a:t>PIANC 2014 §4.2</a:t>
            </a:r>
          </a:p>
        </p:txBody>
      </p:sp>
      <p:sp>
        <p:nvSpPr>
          <p:cNvPr id="39" name="TextBox 38"/>
          <p:cNvSpPr txBox="1"/>
          <p:nvPr/>
        </p:nvSpPr>
        <p:spPr>
          <a:xfrm>
            <a:off x="10012680" y="3803904"/>
            <a:ext cx="1737360" cy="384048"/>
          </a:xfrm>
          <a:prstGeom prst="rect">
            <a:avLst/>
          </a:prstGeom>
          <a:noFill/>
        </p:spPr>
        <p:txBody>
          <a:bodyPr wrap="square"/>
          <a:lstStyle/>
          <a:p>
            <a:pPr algn="l"/>
            <a:r>
              <a:rPr sz="1100" b="0" i="0">
                <a:solidFill>
                  <a:srgbClr val="4ADE80"/>
                </a:solidFill>
                <a:latin typeface="Calibri"/>
              </a:rPr>
              <a:t>PASS ✓</a:t>
            </a:r>
          </a:p>
        </p:txBody>
      </p:sp>
      <p:sp>
        <p:nvSpPr>
          <p:cNvPr id="40" name="Rectangle 39"/>
          <p:cNvSpPr/>
          <p:nvPr/>
        </p:nvSpPr>
        <p:spPr>
          <a:xfrm>
            <a:off x="365760" y="4251960"/>
            <a:ext cx="11430000" cy="48463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315968"/>
            <a:ext cx="502920" cy="384048"/>
          </a:xfrm>
          <a:prstGeom prst="rect">
            <a:avLst/>
          </a:prstGeom>
          <a:noFill/>
        </p:spPr>
        <p:txBody>
          <a:bodyPr wrap="square"/>
          <a:lstStyle/>
          <a:p>
            <a:pPr algn="l"/>
            <a:r>
              <a:rPr sz="1100" b="0" i="0">
                <a:solidFill>
                  <a:srgbClr val="FFFFFF"/>
                </a:solidFill>
                <a:latin typeface="Calibri"/>
              </a:rPr>
              <a:t>05</a:t>
            </a:r>
          </a:p>
        </p:txBody>
      </p:sp>
      <p:sp>
        <p:nvSpPr>
          <p:cNvPr id="42" name="TextBox 41"/>
          <p:cNvSpPr txBox="1"/>
          <p:nvPr/>
        </p:nvSpPr>
        <p:spPr>
          <a:xfrm>
            <a:off x="1051560" y="4315968"/>
            <a:ext cx="2651760" cy="384048"/>
          </a:xfrm>
          <a:prstGeom prst="rect">
            <a:avLst/>
          </a:prstGeom>
          <a:noFill/>
        </p:spPr>
        <p:txBody>
          <a:bodyPr wrap="square"/>
          <a:lstStyle/>
          <a:p>
            <a:pPr algn="l"/>
            <a:r>
              <a:rPr sz="1100" b="0" i="0">
                <a:solidFill>
                  <a:srgbClr val="FFFFFF"/>
                </a:solidFill>
                <a:latin typeface="Calibri"/>
              </a:rPr>
              <a:t>Armour Mass W₅₀ (Hudson)</a:t>
            </a:r>
          </a:p>
        </p:txBody>
      </p:sp>
      <p:sp>
        <p:nvSpPr>
          <p:cNvPr id="43" name="TextBox 42"/>
          <p:cNvSpPr txBox="1"/>
          <p:nvPr/>
        </p:nvSpPr>
        <p:spPr>
          <a:xfrm>
            <a:off x="3886200" y="4315968"/>
            <a:ext cx="3383280" cy="384048"/>
          </a:xfrm>
          <a:prstGeom prst="rect">
            <a:avLst/>
          </a:prstGeom>
          <a:noFill/>
        </p:spPr>
        <p:txBody>
          <a:bodyPr wrap="square"/>
          <a:lstStyle/>
          <a:p>
            <a:pPr algn="l"/>
            <a:r>
              <a:rPr sz="1100" b="1" i="0">
                <a:solidFill>
                  <a:srgbClr val="C9A84C"/>
                </a:solidFill>
                <a:latin typeface="Calibri"/>
              </a:rPr>
              <a:t>7.6 t</a:t>
            </a:r>
          </a:p>
        </p:txBody>
      </p:sp>
      <p:sp>
        <p:nvSpPr>
          <p:cNvPr id="44" name="TextBox 43"/>
          <p:cNvSpPr txBox="1"/>
          <p:nvPr/>
        </p:nvSpPr>
        <p:spPr>
          <a:xfrm>
            <a:off x="7452360" y="4315968"/>
            <a:ext cx="2377440" cy="384048"/>
          </a:xfrm>
          <a:prstGeom prst="rect">
            <a:avLst/>
          </a:prstGeom>
          <a:noFill/>
        </p:spPr>
        <p:txBody>
          <a:bodyPr wrap="square"/>
          <a:lstStyle/>
          <a:p>
            <a:pPr algn="l"/>
            <a:r>
              <a:rPr sz="1100" b="0" i="0">
                <a:solidFill>
                  <a:srgbClr val="FFFFFF"/>
                </a:solidFill>
                <a:latin typeface="Calibri"/>
              </a:rPr>
              <a:t>SPM USACE 1984</a:t>
            </a:r>
          </a:p>
        </p:txBody>
      </p:sp>
      <p:sp>
        <p:nvSpPr>
          <p:cNvPr id="45" name="TextBox 44"/>
          <p:cNvSpPr txBox="1"/>
          <p:nvPr/>
        </p:nvSpPr>
        <p:spPr>
          <a:xfrm>
            <a:off x="10012680" y="4315968"/>
            <a:ext cx="1737360" cy="384048"/>
          </a:xfrm>
          <a:prstGeom prst="rect">
            <a:avLst/>
          </a:prstGeom>
          <a:noFill/>
        </p:spPr>
        <p:txBody>
          <a:bodyPr wrap="square"/>
          <a:lstStyle/>
          <a:p>
            <a:pPr algn="l"/>
            <a:r>
              <a:rPr sz="1100" b="0" i="0">
                <a:solidFill>
                  <a:srgbClr val="4ADE80"/>
                </a:solidFill>
                <a:latin typeface="Calibri"/>
              </a:rPr>
              <a:t>PASS ✓</a:t>
            </a:r>
          </a:p>
        </p:txBody>
      </p:sp>
      <p:sp>
        <p:nvSpPr>
          <p:cNvPr id="46" name="Rectangle 45"/>
          <p:cNvSpPr/>
          <p:nvPr/>
        </p:nvSpPr>
        <p:spPr>
          <a:xfrm>
            <a:off x="365760" y="4764024"/>
            <a:ext cx="11430000" cy="484632"/>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4828032"/>
            <a:ext cx="502920" cy="384048"/>
          </a:xfrm>
          <a:prstGeom prst="rect">
            <a:avLst/>
          </a:prstGeom>
          <a:noFill/>
        </p:spPr>
        <p:txBody>
          <a:bodyPr wrap="square"/>
          <a:lstStyle/>
          <a:p>
            <a:pPr algn="l"/>
            <a:r>
              <a:rPr sz="1100" b="0" i="0">
                <a:solidFill>
                  <a:srgbClr val="FFFFFF"/>
                </a:solidFill>
                <a:latin typeface="Calibri"/>
              </a:rPr>
              <a:t>06</a:t>
            </a:r>
          </a:p>
        </p:txBody>
      </p:sp>
      <p:sp>
        <p:nvSpPr>
          <p:cNvPr id="48" name="TextBox 47"/>
          <p:cNvSpPr txBox="1"/>
          <p:nvPr/>
        </p:nvSpPr>
        <p:spPr>
          <a:xfrm>
            <a:off x="1051560" y="4828032"/>
            <a:ext cx="2651760" cy="384048"/>
          </a:xfrm>
          <a:prstGeom prst="rect">
            <a:avLst/>
          </a:prstGeom>
          <a:noFill/>
        </p:spPr>
        <p:txBody>
          <a:bodyPr wrap="square"/>
          <a:lstStyle/>
          <a:p>
            <a:pPr algn="l"/>
            <a:r>
              <a:rPr sz="1100" b="0" i="0">
                <a:solidFill>
                  <a:srgbClr val="FFFFFF"/>
                </a:solidFill>
                <a:latin typeface="Calibri"/>
              </a:rPr>
              <a:t>Breakwater Crest Level</a:t>
            </a:r>
          </a:p>
        </p:txBody>
      </p:sp>
      <p:sp>
        <p:nvSpPr>
          <p:cNvPr id="49" name="TextBox 48"/>
          <p:cNvSpPr txBox="1"/>
          <p:nvPr/>
        </p:nvSpPr>
        <p:spPr>
          <a:xfrm>
            <a:off x="3886200" y="4828032"/>
            <a:ext cx="3383280" cy="384048"/>
          </a:xfrm>
          <a:prstGeom prst="rect">
            <a:avLst/>
          </a:prstGeom>
          <a:noFill/>
        </p:spPr>
        <p:txBody>
          <a:bodyPr wrap="square"/>
          <a:lstStyle/>
          <a:p>
            <a:pPr algn="l"/>
            <a:r>
              <a:rPr sz="1100" b="1" i="0">
                <a:solidFill>
                  <a:srgbClr val="C9A84C"/>
                </a:solidFill>
                <a:latin typeface="Calibri"/>
              </a:rPr>
              <a:t>+7.0 m CD</a:t>
            </a:r>
          </a:p>
        </p:txBody>
      </p:sp>
      <p:sp>
        <p:nvSpPr>
          <p:cNvPr id="50" name="TextBox 49"/>
          <p:cNvSpPr txBox="1"/>
          <p:nvPr/>
        </p:nvSpPr>
        <p:spPr>
          <a:xfrm>
            <a:off x="7452360" y="4828032"/>
            <a:ext cx="2377440" cy="384048"/>
          </a:xfrm>
          <a:prstGeom prst="rect">
            <a:avLst/>
          </a:prstGeom>
          <a:noFill/>
        </p:spPr>
        <p:txBody>
          <a:bodyPr wrap="square"/>
          <a:lstStyle/>
          <a:p>
            <a:pPr algn="l"/>
            <a:r>
              <a:rPr sz="1100" b="0" i="0">
                <a:solidFill>
                  <a:srgbClr val="FFFFFF"/>
                </a:solidFill>
                <a:latin typeface="Calibri"/>
              </a:rPr>
              <a:t>EurOtop 2018</a:t>
            </a:r>
          </a:p>
        </p:txBody>
      </p:sp>
      <p:sp>
        <p:nvSpPr>
          <p:cNvPr id="51" name="TextBox 50"/>
          <p:cNvSpPr txBox="1"/>
          <p:nvPr/>
        </p:nvSpPr>
        <p:spPr>
          <a:xfrm>
            <a:off x="10012680" y="4828032"/>
            <a:ext cx="1737360" cy="384048"/>
          </a:xfrm>
          <a:prstGeom prst="rect">
            <a:avLst/>
          </a:prstGeom>
          <a:noFill/>
        </p:spPr>
        <p:txBody>
          <a:bodyPr wrap="square"/>
          <a:lstStyle/>
          <a:p>
            <a:pPr algn="l"/>
            <a:r>
              <a:rPr sz="1100" b="0" i="0">
                <a:solidFill>
                  <a:srgbClr val="4ADE80"/>
                </a:solidFill>
                <a:latin typeface="Calibri"/>
              </a:rPr>
              <a:t>PASS ✓</a:t>
            </a:r>
          </a:p>
        </p:txBody>
      </p:sp>
      <p:sp>
        <p:nvSpPr>
          <p:cNvPr id="52" name="Rectangle 51"/>
          <p:cNvSpPr/>
          <p:nvPr/>
        </p:nvSpPr>
        <p:spPr>
          <a:xfrm>
            <a:off x="365760" y="5276088"/>
            <a:ext cx="11430000" cy="484632"/>
          </a:xfrm>
          <a:prstGeom prst="rect">
            <a:avLst/>
          </a:prstGeom>
          <a:solidFill>
            <a:srgbClr val="4A2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5340096"/>
            <a:ext cx="502920" cy="384048"/>
          </a:xfrm>
          <a:prstGeom prst="rect">
            <a:avLst/>
          </a:prstGeom>
          <a:noFill/>
        </p:spPr>
        <p:txBody>
          <a:bodyPr wrap="square"/>
          <a:lstStyle/>
          <a:p>
            <a:pPr algn="l"/>
            <a:r>
              <a:rPr sz="1100" b="0" i="0">
                <a:solidFill>
                  <a:srgbClr val="FFFFFF"/>
                </a:solidFill>
                <a:latin typeface="Calibri"/>
              </a:rPr>
              <a:t>07</a:t>
            </a:r>
          </a:p>
        </p:txBody>
      </p:sp>
      <p:sp>
        <p:nvSpPr>
          <p:cNvPr id="54" name="TextBox 53"/>
          <p:cNvSpPr txBox="1"/>
          <p:nvPr/>
        </p:nvSpPr>
        <p:spPr>
          <a:xfrm>
            <a:off x="1051560" y="5340096"/>
            <a:ext cx="2651760" cy="384048"/>
          </a:xfrm>
          <a:prstGeom prst="rect">
            <a:avLst/>
          </a:prstGeom>
          <a:noFill/>
        </p:spPr>
        <p:txBody>
          <a:bodyPr wrap="square"/>
          <a:lstStyle/>
          <a:p>
            <a:pPr algn="l"/>
            <a:r>
              <a:rPr sz="1100" b="0" i="0">
                <a:solidFill>
                  <a:srgbClr val="FFFFFF"/>
                </a:solidFill>
                <a:latin typeface="Calibri"/>
              </a:rPr>
              <a:t>Berth Length (GEN_CARGO)</a:t>
            </a:r>
          </a:p>
        </p:txBody>
      </p:sp>
      <p:sp>
        <p:nvSpPr>
          <p:cNvPr id="55" name="TextBox 54"/>
          <p:cNvSpPr txBox="1"/>
          <p:nvPr/>
        </p:nvSpPr>
        <p:spPr>
          <a:xfrm>
            <a:off x="3886200" y="5340096"/>
            <a:ext cx="3383280" cy="384048"/>
          </a:xfrm>
          <a:prstGeom prst="rect">
            <a:avLst/>
          </a:prstGeom>
          <a:noFill/>
        </p:spPr>
        <p:txBody>
          <a:bodyPr wrap="square"/>
          <a:lstStyle/>
          <a:p>
            <a:pPr algn="l"/>
            <a:r>
              <a:rPr sz="1100" b="1" i="0">
                <a:solidFill>
                  <a:srgbClr val="C9A84C"/>
                </a:solidFill>
                <a:latin typeface="Calibri"/>
              </a:rPr>
              <a:t>230 m → min 275 m</a:t>
            </a:r>
          </a:p>
        </p:txBody>
      </p:sp>
      <p:sp>
        <p:nvSpPr>
          <p:cNvPr id="56" name="TextBox 55"/>
          <p:cNvSpPr txBox="1"/>
          <p:nvPr/>
        </p:nvSpPr>
        <p:spPr>
          <a:xfrm>
            <a:off x="7452360" y="5340096"/>
            <a:ext cx="2377440" cy="384048"/>
          </a:xfrm>
          <a:prstGeom prst="rect">
            <a:avLst/>
          </a:prstGeom>
          <a:noFill/>
        </p:spPr>
        <p:txBody>
          <a:bodyPr wrap="square"/>
          <a:lstStyle/>
          <a:p>
            <a:pPr algn="l"/>
            <a:r>
              <a:rPr sz="1100" b="0" i="0">
                <a:solidFill>
                  <a:srgbClr val="FFFFFF"/>
                </a:solidFill>
                <a:latin typeface="Calibri"/>
              </a:rPr>
              <a:t>PIANC Mooring</a:t>
            </a:r>
          </a:p>
        </p:txBody>
      </p:sp>
      <p:sp>
        <p:nvSpPr>
          <p:cNvPr id="57" name="TextBox 56"/>
          <p:cNvSpPr txBox="1"/>
          <p:nvPr/>
        </p:nvSpPr>
        <p:spPr>
          <a:xfrm>
            <a:off x="10012680" y="5340096"/>
            <a:ext cx="1737360" cy="384048"/>
          </a:xfrm>
          <a:prstGeom prst="rect">
            <a:avLst/>
          </a:prstGeom>
          <a:noFill/>
        </p:spPr>
        <p:txBody>
          <a:bodyPr wrap="square"/>
          <a:lstStyle/>
          <a:p>
            <a:pPr algn="l"/>
            <a:r>
              <a:rPr sz="1100" b="0" i="0">
                <a:solidFill>
                  <a:srgbClr val="FFB050"/>
                </a:solidFill>
                <a:latin typeface="Calibri"/>
              </a:rPr>
              <a:t>FLAG ⚠</a:t>
            </a:r>
          </a:p>
        </p:txBody>
      </p:sp>
      <p:sp>
        <p:nvSpPr>
          <p:cNvPr id="58" name="Rectangle 57"/>
          <p:cNvSpPr/>
          <p:nvPr/>
        </p:nvSpPr>
        <p:spPr>
          <a:xfrm>
            <a:off x="365760" y="5788152"/>
            <a:ext cx="11430000" cy="484632"/>
          </a:xfrm>
          <a:prstGeom prst="rect">
            <a:avLst/>
          </a:prstGeom>
          <a:solidFill>
            <a:srgbClr val="1A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80" y="5852160"/>
            <a:ext cx="502920" cy="384048"/>
          </a:xfrm>
          <a:prstGeom prst="rect">
            <a:avLst/>
          </a:prstGeom>
          <a:noFill/>
        </p:spPr>
        <p:txBody>
          <a:bodyPr wrap="square"/>
          <a:lstStyle/>
          <a:p>
            <a:pPr algn="l"/>
            <a:r>
              <a:rPr sz="1100" b="0" i="0">
                <a:solidFill>
                  <a:srgbClr val="FFFFFF"/>
                </a:solidFill>
                <a:latin typeface="Calibri"/>
              </a:rPr>
              <a:t>08</a:t>
            </a:r>
          </a:p>
        </p:txBody>
      </p:sp>
      <p:sp>
        <p:nvSpPr>
          <p:cNvPr id="60" name="TextBox 59"/>
          <p:cNvSpPr txBox="1"/>
          <p:nvPr/>
        </p:nvSpPr>
        <p:spPr>
          <a:xfrm>
            <a:off x="1051560" y="5852160"/>
            <a:ext cx="2651760" cy="384048"/>
          </a:xfrm>
          <a:prstGeom prst="rect">
            <a:avLst/>
          </a:prstGeom>
          <a:noFill/>
        </p:spPr>
        <p:txBody>
          <a:bodyPr wrap="square"/>
          <a:lstStyle/>
          <a:p>
            <a:pPr algn="l"/>
            <a:r>
              <a:rPr sz="1100" b="0" i="0">
                <a:solidFill>
                  <a:srgbClr val="FFFFFF"/>
                </a:solidFill>
                <a:latin typeface="Calibri"/>
              </a:rPr>
              <a:t>Tank Spacing (Liquid Bulk)</a:t>
            </a:r>
          </a:p>
        </p:txBody>
      </p:sp>
      <p:sp>
        <p:nvSpPr>
          <p:cNvPr id="61" name="TextBox 60"/>
          <p:cNvSpPr txBox="1"/>
          <p:nvPr/>
        </p:nvSpPr>
        <p:spPr>
          <a:xfrm>
            <a:off x="3886200" y="5852160"/>
            <a:ext cx="3383280" cy="384048"/>
          </a:xfrm>
          <a:prstGeom prst="rect">
            <a:avLst/>
          </a:prstGeom>
          <a:noFill/>
        </p:spPr>
        <p:txBody>
          <a:bodyPr wrap="square"/>
          <a:lstStyle/>
          <a:p>
            <a:pPr algn="l"/>
            <a:r>
              <a:rPr sz="1100" b="1" i="0">
                <a:solidFill>
                  <a:srgbClr val="C9A84C"/>
                </a:solidFill>
                <a:latin typeface="Calibri"/>
              </a:rPr>
              <a:t>45 m = 1.5 × Ø30m</a:t>
            </a:r>
          </a:p>
        </p:txBody>
      </p:sp>
      <p:sp>
        <p:nvSpPr>
          <p:cNvPr id="62" name="TextBox 61"/>
          <p:cNvSpPr txBox="1"/>
          <p:nvPr/>
        </p:nvSpPr>
        <p:spPr>
          <a:xfrm>
            <a:off x="7452360" y="5852160"/>
            <a:ext cx="2377440" cy="384048"/>
          </a:xfrm>
          <a:prstGeom prst="rect">
            <a:avLst/>
          </a:prstGeom>
          <a:noFill/>
        </p:spPr>
        <p:txBody>
          <a:bodyPr wrap="square"/>
          <a:lstStyle/>
          <a:p>
            <a:pPr algn="l"/>
            <a:r>
              <a:rPr sz="1100" b="0" i="0">
                <a:solidFill>
                  <a:srgbClr val="FFFFFF"/>
                </a:solidFill>
                <a:latin typeface="Calibri"/>
              </a:rPr>
              <a:t>NFPA 30</a:t>
            </a:r>
          </a:p>
        </p:txBody>
      </p:sp>
      <p:sp>
        <p:nvSpPr>
          <p:cNvPr id="63" name="TextBox 62"/>
          <p:cNvSpPr txBox="1"/>
          <p:nvPr/>
        </p:nvSpPr>
        <p:spPr>
          <a:xfrm>
            <a:off x="10012680" y="5852160"/>
            <a:ext cx="1737360" cy="384048"/>
          </a:xfrm>
          <a:prstGeom prst="rect">
            <a:avLst/>
          </a:prstGeom>
          <a:noFill/>
        </p:spPr>
        <p:txBody>
          <a:bodyPr wrap="square"/>
          <a:lstStyle/>
          <a:p>
            <a:pPr algn="l"/>
            <a:r>
              <a:rPr sz="1100" b="0" i="0">
                <a:solidFill>
                  <a:srgbClr val="4ADE80"/>
                </a:solidFill>
                <a:latin typeface="Calibri"/>
              </a:rPr>
              <a:t>PASS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Coastal Structures Studio v1.0</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Engineering Methodology &amp; Digital Tooling</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114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03120"/>
            <a:ext cx="1325880" cy="1005840"/>
          </a:xfrm>
          <a:prstGeom prst="rect">
            <a:avLst/>
          </a:prstGeom>
          <a:noFill/>
        </p:spPr>
        <p:txBody>
          <a:bodyPr wrap="square"/>
          <a:lstStyle/>
          <a:p>
            <a:pPr algn="ctr"/>
            <a:r>
              <a:rPr sz="1000" b="1" i="0">
                <a:solidFill>
                  <a:srgbClr val="FFFFFF"/>
                </a:solidFill>
                <a:latin typeface="Calibri"/>
              </a:rPr>
              <a:t>Project Inputs
(Vessel, Site)</a:t>
            </a:r>
          </a:p>
        </p:txBody>
      </p:sp>
      <p:sp>
        <p:nvSpPr>
          <p:cNvPr id="12" name="TextBox 11"/>
          <p:cNvSpPr txBox="1"/>
          <p:nvPr/>
        </p:nvSpPr>
        <p:spPr>
          <a:xfrm>
            <a:off x="1828800" y="2468880"/>
            <a:ext cx="182880" cy="457200"/>
          </a:xfrm>
          <a:prstGeom prst="rect">
            <a:avLst/>
          </a:prstGeom>
          <a:noFill/>
        </p:spPr>
        <p:txBody>
          <a:bodyPr wrap="square"/>
          <a:lstStyle/>
          <a:p>
            <a:pPr algn="ctr"/>
            <a:r>
              <a:rPr sz="1800" b="1" i="0">
                <a:solidFill>
                  <a:srgbClr val="C9A84C"/>
                </a:solidFill>
                <a:latin typeface="Calibri"/>
              </a:rPr>
              <a:t>→</a:t>
            </a:r>
          </a:p>
        </p:txBody>
      </p:sp>
      <p:sp>
        <p:nvSpPr>
          <p:cNvPr id="13" name="Rectangle 12"/>
          <p:cNvSpPr/>
          <p:nvPr/>
        </p:nvSpPr>
        <p:spPr>
          <a:xfrm>
            <a:off x="20116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57400" y="2103120"/>
            <a:ext cx="1325880" cy="1005840"/>
          </a:xfrm>
          <a:prstGeom prst="rect">
            <a:avLst/>
          </a:prstGeom>
          <a:noFill/>
        </p:spPr>
        <p:txBody>
          <a:bodyPr wrap="square"/>
          <a:lstStyle/>
          <a:p>
            <a:pPr algn="ctr"/>
            <a:r>
              <a:rPr sz="1000" b="1" i="0">
                <a:solidFill>
                  <a:srgbClr val="FFFFFF"/>
                </a:solidFill>
                <a:latin typeface="Calibri"/>
              </a:rPr>
              <a:t>Engineering
Calculations</a:t>
            </a:r>
          </a:p>
        </p:txBody>
      </p:sp>
      <p:sp>
        <p:nvSpPr>
          <p:cNvPr id="15" name="TextBox 14"/>
          <p:cNvSpPr txBox="1"/>
          <p:nvPr/>
        </p:nvSpPr>
        <p:spPr>
          <a:xfrm>
            <a:off x="3429000" y="2468880"/>
            <a:ext cx="182880" cy="457200"/>
          </a:xfrm>
          <a:prstGeom prst="rect">
            <a:avLst/>
          </a:prstGeom>
          <a:noFill/>
        </p:spPr>
        <p:txBody>
          <a:bodyPr wrap="square"/>
          <a:lstStyle/>
          <a:p>
            <a:pPr algn="ctr"/>
            <a:r>
              <a:rPr sz="1800" b="1" i="0">
                <a:solidFill>
                  <a:srgbClr val="C9A84C"/>
                </a:solidFill>
                <a:latin typeface="Calibri"/>
              </a:rPr>
              <a:t>→</a:t>
            </a:r>
          </a:p>
        </p:txBody>
      </p:sp>
      <p:sp>
        <p:nvSpPr>
          <p:cNvPr id="16" name="Rectangle 15"/>
          <p:cNvSpPr/>
          <p:nvPr/>
        </p:nvSpPr>
        <p:spPr>
          <a:xfrm>
            <a:off x="36118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2103120"/>
            <a:ext cx="1325880" cy="1005840"/>
          </a:xfrm>
          <a:prstGeom prst="rect">
            <a:avLst/>
          </a:prstGeom>
          <a:noFill/>
        </p:spPr>
        <p:txBody>
          <a:bodyPr wrap="square"/>
          <a:lstStyle/>
          <a:p>
            <a:pPr algn="ctr"/>
            <a:r>
              <a:rPr sz="1000" b="1" i="0">
                <a:solidFill>
                  <a:srgbClr val="FFFFFF"/>
                </a:solidFill>
                <a:latin typeface="Calibri"/>
              </a:rPr>
              <a:t>PIANC/Hudson
Validation</a:t>
            </a:r>
          </a:p>
        </p:txBody>
      </p:sp>
      <p:sp>
        <p:nvSpPr>
          <p:cNvPr id="18" name="TextBox 17"/>
          <p:cNvSpPr txBox="1"/>
          <p:nvPr/>
        </p:nvSpPr>
        <p:spPr>
          <a:xfrm>
            <a:off x="5029200" y="2468880"/>
            <a:ext cx="182880" cy="457200"/>
          </a:xfrm>
          <a:prstGeom prst="rect">
            <a:avLst/>
          </a:prstGeom>
          <a:noFill/>
        </p:spPr>
        <p:txBody>
          <a:bodyPr wrap="square"/>
          <a:lstStyle/>
          <a:p>
            <a:pPr algn="ctr"/>
            <a:r>
              <a:rPr sz="1800" b="1" i="0">
                <a:solidFill>
                  <a:srgbClr val="C9A84C"/>
                </a:solidFill>
                <a:latin typeface="Calibri"/>
              </a:rPr>
              <a:t>→</a:t>
            </a:r>
          </a:p>
        </p:txBody>
      </p:sp>
      <p:sp>
        <p:nvSpPr>
          <p:cNvPr id="19" name="Rectangle 18"/>
          <p:cNvSpPr/>
          <p:nvPr/>
        </p:nvSpPr>
        <p:spPr>
          <a:xfrm>
            <a:off x="52120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2103120"/>
            <a:ext cx="1325880" cy="1005840"/>
          </a:xfrm>
          <a:prstGeom prst="rect">
            <a:avLst/>
          </a:prstGeom>
          <a:noFill/>
        </p:spPr>
        <p:txBody>
          <a:bodyPr wrap="square"/>
          <a:lstStyle/>
          <a:p>
            <a:pPr algn="ctr"/>
            <a:r>
              <a:rPr sz="1000" b="1" i="0">
                <a:solidFill>
                  <a:srgbClr val="FFFFFF"/>
                </a:solidFill>
                <a:latin typeface="Calibri"/>
              </a:rPr>
              <a:t>Masterplan
Generation</a:t>
            </a:r>
          </a:p>
        </p:txBody>
      </p:sp>
      <p:sp>
        <p:nvSpPr>
          <p:cNvPr id="21" name="TextBox 20"/>
          <p:cNvSpPr txBox="1"/>
          <p:nvPr/>
        </p:nvSpPr>
        <p:spPr>
          <a:xfrm>
            <a:off x="6629400" y="2468880"/>
            <a:ext cx="182880" cy="457200"/>
          </a:xfrm>
          <a:prstGeom prst="rect">
            <a:avLst/>
          </a:prstGeom>
          <a:noFill/>
        </p:spPr>
        <p:txBody>
          <a:bodyPr wrap="square"/>
          <a:lstStyle/>
          <a:p>
            <a:pPr algn="ctr"/>
            <a:r>
              <a:rPr sz="1800" b="1" i="0">
                <a:solidFill>
                  <a:srgbClr val="C9A84C"/>
                </a:solidFill>
                <a:latin typeface="Calibri"/>
              </a:rPr>
              <a:t>→</a:t>
            </a:r>
          </a:p>
        </p:txBody>
      </p:sp>
      <p:sp>
        <p:nvSpPr>
          <p:cNvPr id="22" name="Rectangle 21"/>
          <p:cNvSpPr/>
          <p:nvPr/>
        </p:nvSpPr>
        <p:spPr>
          <a:xfrm>
            <a:off x="68122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103120"/>
            <a:ext cx="1325880" cy="1005840"/>
          </a:xfrm>
          <a:prstGeom prst="rect">
            <a:avLst/>
          </a:prstGeom>
          <a:noFill/>
        </p:spPr>
        <p:txBody>
          <a:bodyPr wrap="square"/>
          <a:lstStyle/>
          <a:p>
            <a:pPr algn="ctr"/>
            <a:r>
              <a:rPr sz="1000" b="1" i="0">
                <a:solidFill>
                  <a:srgbClr val="FFFFFF"/>
                </a:solidFill>
                <a:latin typeface="Calibri"/>
              </a:rPr>
              <a:t>AutoCAD
DWG / DXF</a:t>
            </a:r>
          </a:p>
        </p:txBody>
      </p:sp>
      <p:sp>
        <p:nvSpPr>
          <p:cNvPr id="24" name="TextBox 23"/>
          <p:cNvSpPr txBox="1"/>
          <p:nvPr/>
        </p:nvSpPr>
        <p:spPr>
          <a:xfrm>
            <a:off x="8229600" y="2468880"/>
            <a:ext cx="182880" cy="457200"/>
          </a:xfrm>
          <a:prstGeom prst="rect">
            <a:avLst/>
          </a:prstGeom>
          <a:noFill/>
        </p:spPr>
        <p:txBody>
          <a:bodyPr wrap="square"/>
          <a:lstStyle/>
          <a:p>
            <a:pPr algn="ctr"/>
            <a:r>
              <a:rPr sz="1800" b="1" i="0">
                <a:solidFill>
                  <a:srgbClr val="C9A84C"/>
                </a:solidFill>
                <a:latin typeface="Calibri"/>
              </a:rPr>
              <a:t>→</a:t>
            </a:r>
          </a:p>
        </p:txBody>
      </p:sp>
      <p:sp>
        <p:nvSpPr>
          <p:cNvPr id="25" name="Rectangle 24"/>
          <p:cNvSpPr/>
          <p:nvPr/>
        </p:nvSpPr>
        <p:spPr>
          <a:xfrm>
            <a:off x="8412480" y="2011680"/>
            <a:ext cx="1417320" cy="118872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2103120"/>
            <a:ext cx="1325880" cy="1005840"/>
          </a:xfrm>
          <a:prstGeom prst="rect">
            <a:avLst/>
          </a:prstGeom>
          <a:noFill/>
        </p:spPr>
        <p:txBody>
          <a:bodyPr wrap="square"/>
          <a:lstStyle/>
          <a:p>
            <a:pPr algn="ctr"/>
            <a:r>
              <a:rPr sz="1000" b="1" i="0">
                <a:solidFill>
                  <a:srgbClr val="FFFFFF"/>
                </a:solidFill>
                <a:latin typeface="Calibri"/>
              </a:rPr>
              <a:t>Engineering
Report</a:t>
            </a:r>
          </a:p>
        </p:txBody>
      </p:sp>
      <p:sp>
        <p:nvSpPr>
          <p:cNvPr id="27" name="TextBox 26"/>
          <p:cNvSpPr txBox="1"/>
          <p:nvPr/>
        </p:nvSpPr>
        <p:spPr>
          <a:xfrm>
            <a:off x="9829800" y="2468880"/>
            <a:ext cx="182880" cy="457200"/>
          </a:xfrm>
          <a:prstGeom prst="rect">
            <a:avLst/>
          </a:prstGeom>
          <a:noFill/>
        </p:spPr>
        <p:txBody>
          <a:bodyPr wrap="square"/>
          <a:lstStyle/>
          <a:p>
            <a:pPr algn="ctr"/>
            <a:r>
              <a:rPr sz="1800" b="1" i="0">
                <a:solidFill>
                  <a:srgbClr val="C9A84C"/>
                </a:solidFill>
                <a:latin typeface="Calibri"/>
              </a:rPr>
              <a:t>→</a:t>
            </a:r>
          </a:p>
        </p:txBody>
      </p:sp>
      <p:sp>
        <p:nvSpPr>
          <p:cNvPr id="28" name="Rectangle 27"/>
          <p:cNvSpPr/>
          <p:nvPr/>
        </p:nvSpPr>
        <p:spPr>
          <a:xfrm>
            <a:off x="10012680" y="2011680"/>
            <a:ext cx="1417320" cy="1188720"/>
          </a:xfrm>
          <a:prstGeom prst="rect">
            <a:avLst/>
          </a:prstGeom>
          <a:solidFill>
            <a:srgbClr val="0A3D1A"/>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0" y="2103120"/>
            <a:ext cx="1325880" cy="1005840"/>
          </a:xfrm>
          <a:prstGeom prst="rect">
            <a:avLst/>
          </a:prstGeom>
          <a:noFill/>
        </p:spPr>
        <p:txBody>
          <a:bodyPr wrap="square"/>
          <a:lstStyle/>
          <a:p>
            <a:pPr algn="ctr"/>
            <a:r>
              <a:rPr sz="1000" b="1" i="0">
                <a:solidFill>
                  <a:srgbClr val="FFFFFF"/>
                </a:solidFill>
                <a:latin typeface="Calibri"/>
              </a:rPr>
              <a:t>Bill of
Quantities</a:t>
            </a:r>
          </a:p>
        </p:txBody>
      </p:sp>
      <p:sp>
        <p:nvSpPr>
          <p:cNvPr id="30" name="TextBox 29"/>
          <p:cNvSpPr txBox="1"/>
          <p:nvPr/>
        </p:nvSpPr>
        <p:spPr>
          <a:xfrm>
            <a:off x="457200" y="3474720"/>
            <a:ext cx="5486400" cy="411480"/>
          </a:xfrm>
          <a:prstGeom prst="rect">
            <a:avLst/>
          </a:prstGeom>
          <a:noFill/>
        </p:spPr>
        <p:txBody>
          <a:bodyPr wrap="square"/>
          <a:lstStyle/>
          <a:p>
            <a:pPr algn="l"/>
            <a:r>
              <a:rPr sz="1600" b="1" i="0">
                <a:solidFill>
                  <a:srgbClr val="C9A84C"/>
                </a:solidFill>
                <a:latin typeface="Calibri"/>
              </a:rPr>
              <a:t>What is CSS v1.0?</a:t>
            </a:r>
          </a:p>
        </p:txBody>
      </p:sp>
      <p:sp>
        <p:nvSpPr>
          <p:cNvPr id="31" name="TextBox 30"/>
          <p:cNvSpPr txBox="1"/>
          <p:nvPr/>
        </p:nvSpPr>
        <p:spPr>
          <a:xfrm>
            <a:off x="457200" y="3931920"/>
            <a:ext cx="5943600" cy="2286000"/>
          </a:xfrm>
          <a:prstGeom prst="rect">
            <a:avLst/>
          </a:prstGeom>
          <a:noFill/>
        </p:spPr>
        <p:txBody>
          <a:bodyPr wrap="square"/>
          <a:lstStyle/>
          <a:p>
            <a:pPr algn="l"/>
            <a:r>
              <a:rPr sz="1300" b="0" i="0">
                <a:solidFill>
                  <a:srgbClr val="FFFFFF"/>
                </a:solidFill>
                <a:latin typeface="Calibri"/>
              </a:rPr>
              <a:t>Coastal Structures Studio is a Python-based parametric engineering engine developed specifically for this project. It manages the complex interdependencies between vessel dimensions, PIANC navigation geometry, and masterplan spatial constraints — automating repetitive calculations while keeping all engineering judgment with the design engineer.</a:t>
            </a:r>
          </a:p>
        </p:txBody>
      </p:sp>
      <p:sp>
        <p:nvSpPr>
          <p:cNvPr id="32" name="Rectangle 31"/>
          <p:cNvSpPr/>
          <p:nvPr/>
        </p:nvSpPr>
        <p:spPr>
          <a:xfrm>
            <a:off x="6675120" y="3474720"/>
            <a:ext cx="5212080" cy="73152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0" y="3566160"/>
            <a:ext cx="5029200" cy="548640"/>
          </a:xfrm>
          <a:prstGeom prst="rect">
            <a:avLst/>
          </a:prstGeom>
          <a:noFill/>
        </p:spPr>
        <p:txBody>
          <a:bodyPr wrap="square"/>
          <a:lstStyle/>
          <a:p>
            <a:pPr algn="ctr"/>
            <a:r>
              <a:rPr sz="1400" b="1" i="1">
                <a:solidFill>
                  <a:srgbClr val="C9A84C"/>
                </a:solidFill>
                <a:latin typeface="Calibri"/>
              </a:rPr>
              <a:t>"AI That Engineers Your Infrastructure."</a:t>
            </a:r>
          </a:p>
        </p:txBody>
      </p:sp>
      <p:sp>
        <p:nvSpPr>
          <p:cNvPr id="34" name="Rectangle 33"/>
          <p:cNvSpPr/>
          <p:nvPr/>
        </p:nvSpPr>
        <p:spPr>
          <a:xfrm>
            <a:off x="6675120" y="4389120"/>
            <a:ext cx="5212080" cy="219456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4526280"/>
            <a:ext cx="4846320" cy="1920240"/>
          </a:xfrm>
          <a:prstGeom prst="rect">
            <a:avLst/>
          </a:prstGeom>
          <a:noFill/>
        </p:spPr>
        <p:txBody>
          <a:bodyPr wrap="square"/>
          <a:lstStyle/>
          <a:p>
            <a:pPr algn="l"/>
            <a:r>
              <a:rPr sz="1300" b="0" i="0">
                <a:solidFill>
                  <a:srgbClr val="D1D9E6"/>
                </a:solidFill>
                <a:latin typeface="Calibri"/>
              </a:rPr>
              <a:t>Engineering is always the hero.
CSS is the tool.
The Suez Port Masterplan is the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256032"/>
            <a:ext cx="11640312" cy="100584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01752"/>
            <a:ext cx="11091672" cy="822960"/>
          </a:xfrm>
          <a:prstGeom prst="rect">
            <a:avLst/>
          </a:prstGeom>
          <a:noFill/>
        </p:spPr>
        <p:txBody>
          <a:bodyPr wrap="square"/>
          <a:lstStyle/>
          <a:p>
            <a:pPr algn="l"/>
            <a:r>
              <a:rPr sz="3400" b="1" i="0">
                <a:solidFill>
                  <a:srgbClr val="FFFFFF"/>
                </a:solidFill>
                <a:latin typeface="Calibri"/>
              </a:rPr>
              <a:t>Future Development</a:t>
            </a:r>
          </a:p>
        </p:txBody>
      </p:sp>
      <p:sp>
        <p:nvSpPr>
          <p:cNvPr id="6" name="Rectangle 5"/>
          <p:cNvSpPr/>
          <p:nvPr/>
        </p:nvSpPr>
        <p:spPr>
          <a:xfrm>
            <a:off x="365760" y="1207008"/>
            <a:ext cx="22860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11091672" cy="365760"/>
          </a:xfrm>
          <a:prstGeom prst="rect">
            <a:avLst/>
          </a:prstGeom>
          <a:noFill/>
        </p:spPr>
        <p:txBody>
          <a:bodyPr wrap="square"/>
          <a:lstStyle/>
          <a:p>
            <a:pPr algn="l"/>
            <a:r>
              <a:rPr sz="1400" b="0" i="0">
                <a:solidFill>
                  <a:srgbClr val="E8D090"/>
                </a:solidFill>
                <a:latin typeface="Calibri"/>
              </a:rPr>
              <a:t>Next Engineering Phases &amp; Expansion Potential</a:t>
            </a:r>
          </a:p>
        </p:txBody>
      </p:sp>
      <p:sp>
        <p:nvSpPr>
          <p:cNvPr id="8" name="Rectangle 7"/>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10" name="Rectangle 9"/>
          <p:cNvSpPr/>
          <p:nvPr/>
        </p:nvSpPr>
        <p:spPr>
          <a:xfrm>
            <a:off x="411480" y="1691640"/>
            <a:ext cx="3749039" cy="475488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3474720" cy="502920"/>
          </a:xfrm>
          <a:prstGeom prst="rect">
            <a:avLst/>
          </a:prstGeom>
          <a:noFill/>
        </p:spPr>
        <p:txBody>
          <a:bodyPr wrap="square"/>
          <a:lstStyle/>
          <a:p>
            <a:pPr algn="l"/>
            <a:r>
              <a:rPr sz="1300" b="1" i="0">
                <a:solidFill>
                  <a:srgbClr val="C9A84C"/>
                </a:solidFill>
                <a:latin typeface="Calibri"/>
              </a:rPr>
              <a:t>Phase 2 — Detailed Design</a:t>
            </a:r>
          </a:p>
        </p:txBody>
      </p:sp>
      <p:sp>
        <p:nvSpPr>
          <p:cNvPr id="12" name="TextBox 11"/>
          <p:cNvSpPr txBox="1"/>
          <p:nvPr/>
        </p:nvSpPr>
        <p:spPr>
          <a:xfrm>
            <a:off x="548640" y="2468880"/>
            <a:ext cx="3474720" cy="548640"/>
          </a:xfrm>
          <a:prstGeom prst="rect">
            <a:avLst/>
          </a:prstGeom>
          <a:noFill/>
        </p:spPr>
        <p:txBody>
          <a:bodyPr wrap="square"/>
          <a:lstStyle/>
          <a:p>
            <a:pPr algn="l"/>
            <a:r>
              <a:rPr sz="1100" b="0" i="0">
                <a:solidFill>
                  <a:srgbClr val="FFFFFF"/>
                </a:solidFill>
                <a:latin typeface="Calibri"/>
              </a:rPr>
              <a:t>■  Full geotechnical investigation (borehole programme)</a:t>
            </a:r>
          </a:p>
        </p:txBody>
      </p:sp>
      <p:sp>
        <p:nvSpPr>
          <p:cNvPr id="13" name="TextBox 12"/>
          <p:cNvSpPr txBox="1"/>
          <p:nvPr/>
        </p:nvSpPr>
        <p:spPr>
          <a:xfrm>
            <a:off x="548640" y="3108960"/>
            <a:ext cx="3474720" cy="548640"/>
          </a:xfrm>
          <a:prstGeom prst="rect">
            <a:avLst/>
          </a:prstGeom>
          <a:noFill/>
        </p:spPr>
        <p:txBody>
          <a:bodyPr wrap="square"/>
          <a:lstStyle/>
          <a:p>
            <a:pPr algn="l"/>
            <a:r>
              <a:rPr sz="1100" b="0" i="0">
                <a:solidFill>
                  <a:srgbClr val="FFFFFF"/>
                </a:solidFill>
                <a:latin typeface="Calibri"/>
              </a:rPr>
              <a:t>■  Physical model testing of breakwater and entrance</a:t>
            </a:r>
          </a:p>
        </p:txBody>
      </p:sp>
      <p:sp>
        <p:nvSpPr>
          <p:cNvPr id="14" name="TextBox 13"/>
          <p:cNvSpPr txBox="1"/>
          <p:nvPr/>
        </p:nvSpPr>
        <p:spPr>
          <a:xfrm>
            <a:off x="548640" y="3749040"/>
            <a:ext cx="3474720" cy="548640"/>
          </a:xfrm>
          <a:prstGeom prst="rect">
            <a:avLst/>
          </a:prstGeom>
          <a:noFill/>
        </p:spPr>
        <p:txBody>
          <a:bodyPr wrap="square"/>
          <a:lstStyle/>
          <a:p>
            <a:pPr algn="l"/>
            <a:r>
              <a:rPr sz="1100" b="0" i="0">
                <a:solidFill>
                  <a:srgbClr val="FFFFFF"/>
                </a:solidFill>
                <a:latin typeface="Calibri"/>
              </a:rPr>
              <a:t>■  Manoeuvring simulation for UKC refinement</a:t>
            </a:r>
          </a:p>
        </p:txBody>
      </p:sp>
      <p:sp>
        <p:nvSpPr>
          <p:cNvPr id="15" name="TextBox 14"/>
          <p:cNvSpPr txBox="1"/>
          <p:nvPr/>
        </p:nvSpPr>
        <p:spPr>
          <a:xfrm>
            <a:off x="548640" y="4389120"/>
            <a:ext cx="3474720" cy="548640"/>
          </a:xfrm>
          <a:prstGeom prst="rect">
            <a:avLst/>
          </a:prstGeom>
          <a:noFill/>
        </p:spPr>
        <p:txBody>
          <a:bodyPr wrap="square"/>
          <a:lstStyle/>
          <a:p>
            <a:pPr algn="l"/>
            <a:r>
              <a:rPr sz="1100" b="0" i="0">
                <a:solidFill>
                  <a:srgbClr val="FFFFFF"/>
                </a:solidFill>
                <a:latin typeface="Calibri"/>
              </a:rPr>
              <a:t>■  EurOtop overtopping analysis for crest finalisation</a:t>
            </a:r>
          </a:p>
        </p:txBody>
      </p:sp>
      <p:sp>
        <p:nvSpPr>
          <p:cNvPr id="16" name="Rectangle 15"/>
          <p:cNvSpPr/>
          <p:nvPr/>
        </p:nvSpPr>
        <p:spPr>
          <a:xfrm>
            <a:off x="4343400" y="1691640"/>
            <a:ext cx="3749039" cy="475488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783080"/>
            <a:ext cx="3474720" cy="502920"/>
          </a:xfrm>
          <a:prstGeom prst="rect">
            <a:avLst/>
          </a:prstGeom>
          <a:noFill/>
        </p:spPr>
        <p:txBody>
          <a:bodyPr wrap="square"/>
          <a:lstStyle/>
          <a:p>
            <a:pPr algn="l"/>
            <a:r>
              <a:rPr sz="1300" b="1" i="0">
                <a:solidFill>
                  <a:srgbClr val="C9A84C"/>
                </a:solidFill>
                <a:latin typeface="Calibri"/>
              </a:rPr>
              <a:t>Digital Twin Integration</a:t>
            </a:r>
          </a:p>
        </p:txBody>
      </p:sp>
      <p:sp>
        <p:nvSpPr>
          <p:cNvPr id="18" name="TextBox 17"/>
          <p:cNvSpPr txBox="1"/>
          <p:nvPr/>
        </p:nvSpPr>
        <p:spPr>
          <a:xfrm>
            <a:off x="4480560" y="2468880"/>
            <a:ext cx="3474720" cy="548640"/>
          </a:xfrm>
          <a:prstGeom prst="rect">
            <a:avLst/>
          </a:prstGeom>
          <a:noFill/>
        </p:spPr>
        <p:txBody>
          <a:bodyPr wrap="square"/>
          <a:lstStyle/>
          <a:p>
            <a:pPr algn="l"/>
            <a:r>
              <a:rPr sz="1100" b="0" i="0">
                <a:solidFill>
                  <a:srgbClr val="FFFFFF"/>
                </a:solidFill>
                <a:latin typeface="Calibri"/>
              </a:rPr>
              <a:t>■  BIM model linked to port operations management</a:t>
            </a:r>
          </a:p>
        </p:txBody>
      </p:sp>
      <p:sp>
        <p:nvSpPr>
          <p:cNvPr id="19" name="TextBox 18"/>
          <p:cNvSpPr txBox="1"/>
          <p:nvPr/>
        </p:nvSpPr>
        <p:spPr>
          <a:xfrm>
            <a:off x="4480560" y="3108960"/>
            <a:ext cx="3474720" cy="548640"/>
          </a:xfrm>
          <a:prstGeom prst="rect">
            <a:avLst/>
          </a:prstGeom>
          <a:noFill/>
        </p:spPr>
        <p:txBody>
          <a:bodyPr wrap="square"/>
          <a:lstStyle/>
          <a:p>
            <a:pPr algn="l"/>
            <a:r>
              <a:rPr sz="1100" b="0" i="0">
                <a:solidFill>
                  <a:srgbClr val="FFFFFF"/>
                </a:solidFill>
                <a:latin typeface="Calibri"/>
              </a:rPr>
              <a:t>■  Real-time vessel tracking &amp; berth scheduling</a:t>
            </a:r>
          </a:p>
        </p:txBody>
      </p:sp>
      <p:sp>
        <p:nvSpPr>
          <p:cNvPr id="20" name="TextBox 19"/>
          <p:cNvSpPr txBox="1"/>
          <p:nvPr/>
        </p:nvSpPr>
        <p:spPr>
          <a:xfrm>
            <a:off x="4480560" y="3749040"/>
            <a:ext cx="3474720" cy="548640"/>
          </a:xfrm>
          <a:prstGeom prst="rect">
            <a:avLst/>
          </a:prstGeom>
          <a:noFill/>
        </p:spPr>
        <p:txBody>
          <a:bodyPr wrap="square"/>
          <a:lstStyle/>
          <a:p>
            <a:pPr algn="l"/>
            <a:r>
              <a:rPr sz="1100" b="0" i="0">
                <a:solidFill>
                  <a:srgbClr val="FFFFFF"/>
                </a:solidFill>
                <a:latin typeface="Calibri"/>
              </a:rPr>
              <a:t>■  Predictive maintenance for breakwater armour</a:t>
            </a:r>
          </a:p>
        </p:txBody>
      </p:sp>
      <p:sp>
        <p:nvSpPr>
          <p:cNvPr id="21" name="Rectangle 20"/>
          <p:cNvSpPr/>
          <p:nvPr/>
        </p:nvSpPr>
        <p:spPr>
          <a:xfrm>
            <a:off x="8275320" y="1691640"/>
            <a:ext cx="3749039" cy="4754880"/>
          </a:xfrm>
          <a:prstGeom prst="rect">
            <a:avLst/>
          </a:prstGeom>
          <a:solidFill>
            <a:srgbClr val="142847"/>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783080"/>
            <a:ext cx="3474720" cy="502920"/>
          </a:xfrm>
          <a:prstGeom prst="rect">
            <a:avLst/>
          </a:prstGeom>
          <a:noFill/>
        </p:spPr>
        <p:txBody>
          <a:bodyPr wrap="square"/>
          <a:lstStyle/>
          <a:p>
            <a:pPr algn="l"/>
            <a:r>
              <a:rPr sz="1300" b="1" i="0">
                <a:solidFill>
                  <a:srgbClr val="C9A84C"/>
                </a:solidFill>
                <a:latin typeface="Calibri"/>
              </a:rPr>
              <a:t>Port Expansion (Phase 3)</a:t>
            </a:r>
          </a:p>
        </p:txBody>
      </p:sp>
      <p:sp>
        <p:nvSpPr>
          <p:cNvPr id="23" name="TextBox 22"/>
          <p:cNvSpPr txBox="1"/>
          <p:nvPr/>
        </p:nvSpPr>
        <p:spPr>
          <a:xfrm>
            <a:off x="8412480" y="2468880"/>
            <a:ext cx="3474720" cy="548640"/>
          </a:xfrm>
          <a:prstGeom prst="rect">
            <a:avLst/>
          </a:prstGeom>
          <a:noFill/>
        </p:spPr>
        <p:txBody>
          <a:bodyPr wrap="square"/>
          <a:lstStyle/>
          <a:p>
            <a:pPr algn="l"/>
            <a:r>
              <a:rPr sz="1100" b="0" i="0">
                <a:solidFill>
                  <a:srgbClr val="FFFFFF"/>
                </a:solidFill>
                <a:latin typeface="Calibri"/>
              </a:rPr>
              <a:t>■  North terminal expansion — Container port</a:t>
            </a:r>
          </a:p>
        </p:txBody>
      </p:sp>
      <p:sp>
        <p:nvSpPr>
          <p:cNvPr id="24" name="TextBox 23"/>
          <p:cNvSpPr txBox="1"/>
          <p:nvPr/>
        </p:nvSpPr>
        <p:spPr>
          <a:xfrm>
            <a:off x="8412480" y="3108960"/>
            <a:ext cx="3474720" cy="548640"/>
          </a:xfrm>
          <a:prstGeom prst="rect">
            <a:avLst/>
          </a:prstGeom>
          <a:noFill/>
        </p:spPr>
        <p:txBody>
          <a:bodyPr wrap="square"/>
          <a:lstStyle/>
          <a:p>
            <a:pPr algn="l"/>
            <a:r>
              <a:rPr sz="1100" b="0" i="0">
                <a:solidFill>
                  <a:srgbClr val="FFFFFF"/>
                </a:solidFill>
                <a:latin typeface="Calibri"/>
              </a:rPr>
              <a:t>■  Offshore SPM (Single Point Mooring) for VLCCs</a:t>
            </a:r>
          </a:p>
        </p:txBody>
      </p:sp>
      <p:sp>
        <p:nvSpPr>
          <p:cNvPr id="25" name="TextBox 24"/>
          <p:cNvSpPr txBox="1"/>
          <p:nvPr/>
        </p:nvSpPr>
        <p:spPr>
          <a:xfrm>
            <a:off x="8412480" y="3749040"/>
            <a:ext cx="3474720" cy="548640"/>
          </a:xfrm>
          <a:prstGeom prst="rect">
            <a:avLst/>
          </a:prstGeom>
          <a:noFill/>
        </p:spPr>
        <p:txBody>
          <a:bodyPr wrap="square"/>
          <a:lstStyle/>
          <a:p>
            <a:pPr algn="l"/>
            <a:r>
              <a:rPr sz="1100" b="0" i="0">
                <a:solidFill>
                  <a:srgbClr val="FFFFFF"/>
                </a:solidFill>
                <a:latin typeface="Calibri"/>
              </a:rPr>
              <a:t>■  GIS spatial analytics for cargo flow optimisation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88952" cy="347472"/>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28816"/>
            <a:ext cx="11640312" cy="292608"/>
          </a:xfrm>
          <a:prstGeom prst="rect">
            <a:avLst/>
          </a:prstGeom>
          <a:noFill/>
        </p:spPr>
        <p:txBody>
          <a:bodyPr wrap="square"/>
          <a:lstStyle/>
          <a:p>
            <a:pPr algn="ctr"/>
            <a:r>
              <a:rPr sz="900" b="0" i="0">
                <a:solidFill>
                  <a:srgbClr val="E8D090"/>
                </a:solidFill>
                <a:latin typeface="Calibri"/>
              </a:rPr>
              <a:t>Suez Port Masterplan Design  |  Mohamed Abdelshafy (20107979)  |  ECB3802  |  Supervisor: Dr. Walid Al-Amri</a:t>
            </a:r>
          </a:p>
        </p:txBody>
      </p:sp>
      <p:sp>
        <p:nvSpPr>
          <p:cNvPr id="7" name="TextBox 6"/>
          <p:cNvSpPr txBox="1"/>
          <p:nvPr/>
        </p:nvSpPr>
        <p:spPr>
          <a:xfrm>
            <a:off x="914400" y="731520"/>
            <a:ext cx="10332720" cy="731520"/>
          </a:xfrm>
          <a:prstGeom prst="rect">
            <a:avLst/>
          </a:prstGeom>
          <a:noFill/>
        </p:spPr>
        <p:txBody>
          <a:bodyPr wrap="square"/>
          <a:lstStyle/>
          <a:p>
            <a:pPr algn="l"/>
            <a:r>
              <a:rPr sz="4200" b="1" i="0">
                <a:solidFill>
                  <a:srgbClr val="FFFFFF"/>
                </a:solidFill>
                <a:latin typeface="Calibri"/>
              </a:rPr>
              <a:t>My Vision</a:t>
            </a:r>
          </a:p>
        </p:txBody>
      </p:sp>
      <p:sp>
        <p:nvSpPr>
          <p:cNvPr id="8" name="Rectangle 7"/>
          <p:cNvSpPr/>
          <p:nvPr/>
        </p:nvSpPr>
        <p:spPr>
          <a:xfrm>
            <a:off x="914400" y="1463040"/>
            <a:ext cx="2743200"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7132320" cy="4937760"/>
          </a:xfrm>
          <a:prstGeom prst="rect">
            <a:avLst/>
          </a:prstGeom>
          <a:noFill/>
        </p:spPr>
        <p:txBody>
          <a:bodyPr wrap="square"/>
          <a:lstStyle/>
          <a:p>
            <a:pPr algn="l"/>
            <a:r>
              <a:rPr sz="1500" b="0" i="0">
                <a:solidFill>
                  <a:srgbClr val="F7F8FA"/>
                </a:solidFill>
                <a:latin typeface="Calibri"/>
              </a:rPr>
              <a:t>This project represents more than an engineering design.
It is a demonstration that a single engineer, armed with the right tools and rigorous methodology, can produce work at consultancy quality — from design vessel to breakwater armour, from turning basin to terminal layout, from engineering calculations to print-ready drawings.
My vision is to apply this same rigour to the infrastructure challenges of the Arab world — ports, coastal protection, maritime trade corridors — contributing to the sustainable development of the region I call home.
Coastal Structures Studio v1.0 is the first step.</a:t>
            </a:r>
          </a:p>
        </p:txBody>
      </p:sp>
      <p:sp>
        <p:nvSpPr>
          <p:cNvPr id="10" name="Rectangle 9"/>
          <p:cNvSpPr/>
          <p:nvPr/>
        </p:nvSpPr>
        <p:spPr>
          <a:xfrm>
            <a:off x="8503920" y="1371600"/>
            <a:ext cx="3291840" cy="5120640"/>
          </a:xfrm>
          <a:prstGeom prst="rect">
            <a:avLst/>
          </a:prstGeom>
          <a:solidFill>
            <a:srgbClr val="142847"/>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286000"/>
            <a:ext cx="2926080" cy="1828800"/>
          </a:xfrm>
          <a:prstGeom prst="rect">
            <a:avLst/>
          </a:prstGeom>
          <a:noFill/>
        </p:spPr>
        <p:txBody>
          <a:bodyPr wrap="square"/>
          <a:lstStyle/>
          <a:p>
            <a:pPr algn="ctr"/>
            <a:r>
              <a:rPr sz="2200" b="1" i="0">
                <a:solidFill>
                  <a:srgbClr val="C9A84C"/>
                </a:solidFill>
                <a:latin typeface="Calibri"/>
              </a:rPr>
              <a:t>SUEZ PORT
MASTERPLAN
DESIGN</a:t>
            </a:r>
          </a:p>
        </p:txBody>
      </p:sp>
      <p:sp>
        <p:nvSpPr>
          <p:cNvPr id="12" name="TextBox 11"/>
          <p:cNvSpPr txBox="1"/>
          <p:nvPr/>
        </p:nvSpPr>
        <p:spPr>
          <a:xfrm>
            <a:off x="8686800" y="4389120"/>
            <a:ext cx="2926080" cy="1371600"/>
          </a:xfrm>
          <a:prstGeom prst="rect">
            <a:avLst/>
          </a:prstGeom>
          <a:noFill/>
        </p:spPr>
        <p:txBody>
          <a:bodyPr wrap="square"/>
          <a:lstStyle/>
          <a:p>
            <a:pPr algn="ctr"/>
            <a:r>
              <a:rPr sz="1300" b="0" i="0">
                <a:solidFill>
                  <a:srgbClr val="FFFFFF"/>
                </a:solidFill>
                <a:latin typeface="Calibri"/>
              </a:rPr>
              <a:t>Mohamed Abdelshafy
20107979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